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 Training</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WSQ Course Code: TGS-2025053922</a:t>
            </a:r>
          </a:p>
          <a:p>
            <a:pPr algn="l">
              <a:spcAft>
                <a:spcPts val="600"/>
              </a:spcAft>
            </a:pPr>
            <a:r>
              <a:rPr sz="1400" b="0">
                <a:solidFill>
                  <a:srgbClr val="5B6372"/>
                </a:solidFill>
                <a:latin typeface="Arial"/>
              </a:rPr>
              <a:t>Conducted by Tertiary Infotech Academy Pte Ltd  ·  UEN: 201200696W</a:t>
            </a:r>
          </a:p>
          <a:p>
            <a:pPr algn="l">
              <a:spcAft>
                <a:spcPts val="600"/>
              </a:spcAft>
            </a:pPr>
            <a:r>
              <a:rPr sz="1300" b="0">
                <a:solidFill>
                  <a:srgbClr val="5B6372"/>
                </a:solidFill>
                <a:latin typeface="Arial"/>
              </a:rPr>
              <a:t>TSC: Quality Process Control  ·  ELE-QUA-5006-1.1</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v9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(Mandatory)</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Repeat for AM, PM and the assessment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75% attendance to stay eligible for funding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2" name="Rectangle 11"/>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5" name="Rectangle 14"/>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8" name="Rectangle 17"/>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1" name="Rectangle 20"/>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4" name="Rectangle 23"/>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7" name="Rectangle 26"/>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2" name="Rectangle 11"/>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5" name="Rectangle 14"/>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8" name="Rectangle 17"/>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WSQ courses on Lean Six Sigma, quality management and data analytics.</a:t>
            </a:r>
          </a:p>
        </p:txBody>
      </p:sp>
      <p:sp>
        <p:nvSpPr>
          <p:cNvPr id="21" name="Rectangle 20"/>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4" name="Rectangle 23"/>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75% attendance is required for certification.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activity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the assessment is open book</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9:30am-6:30pm with a 1-hour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8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Digital attendance (AM) ·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Activity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Activities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Control and assessment</a:t>
            </a:r>
          </a:p>
          <a:p>
            <a:pPr>
              <a:spcAft>
                <a:spcPts val="1000"/>
              </a:spcAft>
            </a:pPr>
            <a:r>
              <a:rPr sz="1300">
                <a:solidFill>
                  <a:srgbClr val="5B6372"/>
                </a:solidFill>
                <a:latin typeface="Arial"/>
              </a:rPr>
              <a:t>–  Digital attendance (AM)</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Activity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Activities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Activities 9-10 · Revision · Final Assessment</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WSQ SKILLS FRAMEWORK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Skills Framework — TSC: Quality Process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600">
                <a:solidFill>
                  <a:srgbClr val="161B26"/>
                </a:solidFill>
                <a:latin typeface="Arial"/>
              </a:rPr>
              <a:t>•  TSC Code: ELE-QUA-5006-1.1</a:t>
            </a:r>
          </a:p>
          <a:p>
            <a:pPr>
              <a:spcAft>
                <a:spcPts val="1000"/>
              </a:spcAft>
            </a:pPr>
            <a:r>
              <a:rPr sz="1600">
                <a:solidFill>
                  <a:srgbClr val="161B26"/>
                </a:solidFill>
                <a:latin typeface="Arial"/>
              </a:rPr>
              <a:t>•  A1: Define project to meet process performance.</a:t>
            </a:r>
          </a:p>
          <a:p>
            <a:pPr>
              <a:spcAft>
                <a:spcPts val="1000"/>
              </a:spcAft>
            </a:pPr>
            <a:r>
              <a:rPr sz="1600">
                <a:solidFill>
                  <a:srgbClr val="161B26"/>
                </a:solidFill>
                <a:latin typeface="Arial"/>
              </a:rPr>
              <a:t>•  A2: Establish project scope of work and the number of hours based on organisational requirements.</a:t>
            </a:r>
          </a:p>
          <a:p>
            <a:pPr>
              <a:spcAft>
                <a:spcPts val="1000"/>
              </a:spcAft>
            </a:pPr>
            <a:r>
              <a:rPr sz="1600">
                <a:solidFill>
                  <a:srgbClr val="161B26"/>
                </a:solidFill>
                <a:latin typeface="Arial"/>
              </a:rPr>
              <a:t>•  A3: Analyse process performance data to identify root causes of variation.</a:t>
            </a:r>
          </a:p>
          <a:p>
            <a:pPr>
              <a:spcAft>
                <a:spcPts val="1000"/>
              </a:spcAft>
            </a:pPr>
            <a:r>
              <a:rPr sz="1600">
                <a:solidFill>
                  <a:srgbClr val="161B26"/>
                </a:solidFill>
                <a:latin typeface="Arial"/>
              </a:rPr>
              <a:t>•  A4: Measure process performance against defined quality standards.</a:t>
            </a:r>
          </a:p>
          <a:p>
            <a:pPr>
              <a:spcAft>
                <a:spcPts val="1000"/>
              </a:spcAft>
            </a:pPr>
            <a:r>
              <a:rPr sz="1600">
                <a:solidFill>
                  <a:srgbClr val="161B26"/>
                </a:solidFill>
                <a:latin typeface="Arial"/>
              </a:rPr>
              <a:t>•  A5: Recommend improvement and control actions to sustain process performance.</a:t>
            </a:r>
          </a:p>
          <a:p>
            <a:pPr>
              <a:spcAft>
                <a:spcPts val="1000"/>
              </a:spcAft>
            </a:pPr>
            <a:r>
              <a:rPr sz="1600">
                <a:solidFill>
                  <a:srgbClr val="161B26"/>
                </a:solidFill>
                <a:latin typeface="Arial"/>
              </a:rPr>
              <a:t>•  K1: Lean and Six Sigma concepts, wastes, value and variation.</a:t>
            </a:r>
          </a:p>
          <a:p>
            <a:pPr>
              <a:spcAft>
                <a:spcPts val="1000"/>
              </a:spcAft>
            </a:pPr>
            <a:r>
              <a:rPr sz="1600">
                <a:solidFill>
                  <a:srgbClr val="161B26"/>
                </a:solidFill>
                <a:latin typeface="Arial"/>
              </a:rPr>
              <a:t>•  K2: Quality tools and techniques for process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Activities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Activity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Activities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Activity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Activity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BEFORE YOU SIT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Briefing for 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Place phones and other materials under the table or on the floor.</a:t>
            </a:r>
          </a:p>
          <a:p>
            <a:pPr>
              <a:spcAft>
                <a:spcPts val="1000"/>
              </a:spcAft>
            </a:pPr>
            <a:r>
              <a:rPr sz="2000">
                <a:solidFill>
                  <a:srgbClr val="161B26"/>
                </a:solidFill>
                <a:latin typeface="Arial"/>
              </a:rPr>
              <a:t>•  No photos or recording of assessment scripts.</a:t>
            </a:r>
          </a:p>
          <a:p>
            <a:pPr>
              <a:spcAft>
                <a:spcPts val="1000"/>
              </a:spcAft>
            </a:pPr>
            <a:r>
              <a:rPr sz="2000">
                <a:solidFill>
                  <a:srgbClr val="161B26"/>
                </a:solidFill>
                <a:latin typeface="Arial"/>
              </a:rPr>
              <a:t>•  No discussion during the assessment.</a:t>
            </a:r>
          </a:p>
          <a:p>
            <a:pPr>
              <a:spcAft>
                <a:spcPts val="1000"/>
              </a:spcAft>
            </a:pPr>
            <a:r>
              <a:rPr sz="2000">
                <a:solidFill>
                  <a:srgbClr val="161B26"/>
                </a:solidFill>
                <a:latin typeface="Arial"/>
              </a:rPr>
              <a:t>•  Use a black/blue pen for hard-copy assessments.</a:t>
            </a:r>
          </a:p>
          <a:p>
            <a:pPr>
              <a:spcAft>
                <a:spcPts val="1000"/>
              </a:spcAft>
            </a:pPr>
            <a:r>
              <a:rPr sz="2000">
                <a:solidFill>
                  <a:srgbClr val="161B26"/>
                </a:solidFill>
                <a:latin typeface="Arial"/>
              </a:rPr>
              <a:t>•  No liquid paper / correction tape.</a:t>
            </a:r>
          </a:p>
          <a:p>
            <a:pPr>
              <a:spcAft>
                <a:spcPts val="1000"/>
              </a:spcAft>
            </a:pPr>
            <a:r>
              <a:rPr sz="2000">
                <a:solidFill>
                  <a:srgbClr val="161B26"/>
                </a:solidFill>
                <a:latin typeface="Arial"/>
              </a:rPr>
              <a:t>•  Scripts are collected when time is up.</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FINAL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Written Assessment (WA) — Short-Answer Questions (SAQ), 60 minutes, open book.</a:t>
            </a:r>
          </a:p>
          <a:p>
            <a:pPr>
              <a:spcAft>
                <a:spcPts val="1000"/>
              </a:spcAft>
            </a:pPr>
            <a:r>
              <a:rPr sz="2000">
                <a:solidFill>
                  <a:srgbClr val="161B26"/>
                </a:solidFill>
                <a:latin typeface="Arial"/>
              </a:rPr>
              <a:t>•  Case Study (CS) — applied Lean Six Sigma tasks, 90 minutes, open book.</a:t>
            </a:r>
          </a:p>
          <a:p>
            <a:pPr>
              <a:spcAft>
                <a:spcPts val="1000"/>
              </a:spcAft>
            </a:pPr>
            <a:r>
              <a:rPr sz="2000">
                <a:solidFill>
                  <a:srgbClr val="161B26"/>
                </a:solidFill>
                <a:latin typeface="Arial"/>
              </a:rPr>
              <a:t>•  Format: Open Book — slides, Learner Guide and approved materials only.</a:t>
            </a:r>
          </a:p>
          <a:p>
            <a:pPr>
              <a:spcAft>
                <a:spcPts val="1000"/>
              </a:spcAft>
            </a:pPr>
            <a:r>
              <a:rPr sz="2000">
                <a:solidFill>
                  <a:srgbClr val="161B26"/>
                </a:solidFill>
                <a:latin typeface="Arial"/>
              </a:rPr>
              <a:t>•  A minimum of 75% attendance is required to be eligible for assessment and funding.</a:t>
            </a:r>
          </a:p>
          <a:p>
            <a:pPr>
              <a:spcAft>
                <a:spcPts val="1000"/>
              </a:spcAft>
            </a:pPr>
            <a:r>
              <a:rPr sz="2000">
                <a:solidFill>
                  <a:srgbClr val="161B26"/>
                </a:solidFill>
                <a:latin typeface="Arial"/>
              </a:rPr>
              <a:t>•  An appeal process is available if required.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Activity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Activity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DATA ·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Contoso Service Desk Data Set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One scenario, one data set</a:t>
            </a:r>
          </a:p>
          <a:p>
            <a:pPr algn="l">
              <a:spcAft>
                <a:spcPts val="300"/>
              </a:spcAft>
            </a:pPr>
            <a:r>
              <a:rPr sz="1000" b="0">
                <a:solidFill>
                  <a:srgbClr val="5B6372"/>
                </a:solidFill>
                <a:latin typeface="Arial"/>
              </a:rPr>
              <a:t>Every activity works from the same two weeks of service desk activity: 400 tickets, 96 of them defective, 120 defects in total.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Defect opportunities</a:t>
            </a:r>
          </a:p>
          <a:p>
            <a:pPr algn="l">
              <a:spcAft>
                <a:spcPts val="300"/>
              </a:spcAft>
            </a:pPr>
            <a:r>
              <a:rPr sz="1000" b="0">
                <a:solidFill>
                  <a:srgbClr val="5B6372"/>
                </a:solidFill>
                <a:latin typeface="Arial"/>
              </a:rPr>
              <a:t>Each ticket carries 6 defect opportunities — the basis for DPO and DPMO.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Baseline performance</a:t>
            </a:r>
          </a:p>
          <a:p>
            <a:pPr algn="l">
              <a:spcAft>
                <a:spcPts val="300"/>
              </a:spcAft>
            </a:pPr>
            <a:r>
              <a:rPr sz="1000" b="0">
                <a:solidFill>
                  <a:srgbClr val="5B6372"/>
                </a:solidFill>
                <a:latin typeface="Arial"/>
              </a:rPr>
              <a:t>Yield 76% · DPU 0.30 · DPMO 50,000 · sigma level ~3.1.</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Speed of assignment</a:t>
            </a:r>
          </a:p>
          <a:p>
            <a:pPr algn="l">
              <a:spcAft>
                <a:spcPts val="300"/>
              </a:spcAft>
            </a:pPr>
            <a:r>
              <a:rPr sz="1000" b="0">
                <a:solidFill>
                  <a:srgbClr val="5B6372"/>
                </a:solidFill>
                <a:latin typeface="Arial"/>
              </a:rPr>
              <a:t>Mean 55 min, median 46 min, against a 30-minute goal — the gap between mean and median is the story.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 the files are</a:t>
            </a:r>
          </a:p>
          <a:p>
            <a:pPr algn="l">
              <a:spcAft>
                <a:spcPts val="300"/>
              </a:spcAft>
            </a:pPr>
            <a:r>
              <a:rPr sz="1000" b="0">
                <a:solidFill>
                  <a:srgbClr val="5B6372"/>
                </a:solidFill>
                <a:latin typeface="Arial"/>
              </a:rPr>
              <a:t>Each activity folder holds a Learner Worksheet and Checklist, plus data/ (the mock data you analyse) and templates/ (the worksheets you complete).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Why it matters</a:t>
            </a:r>
          </a:p>
          <a:p>
            <a:pPr algn="l">
              <a:spcAft>
                <a:spcPts val="300"/>
              </a:spcAft>
            </a:pPr>
            <a:r>
              <a:rPr sz="1000" b="0">
                <a:solidFill>
                  <a:srgbClr val="5B6372"/>
                </a:solidFill>
                <a:latin typeface="Arial"/>
              </a:rPr>
              <a:t>These are the same figures as the Case Study assessment — your activity work is your revision.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PARETO PREVIEW · ANALYSED IN ACTIVITY 7</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the Baseline Data Already Tells You</a:t>
            </a: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Delayed assignment · 48</a:t>
            </a:r>
          </a:p>
          <a:p>
            <a:pPr algn="l">
              <a:spcAft>
                <a:spcPts val="300"/>
              </a:spcAft>
            </a:pPr>
            <a:r>
              <a:rPr sz="900" b="0">
                <a:solidFill>
                  <a:srgbClr val="5B6372"/>
                </a:solidFill>
                <a:latin typeface="Arial"/>
              </a:rPr>
              <a:t>40% of all defects — the single largest category.</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5346192"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Missing information · 30</a:t>
            </a:r>
          </a:p>
          <a:p>
            <a:pPr algn="l">
              <a:spcAft>
                <a:spcPts val="300"/>
              </a:spcAft>
            </a:pPr>
            <a:r>
              <a:rPr sz="900" b="0">
                <a:solidFill>
                  <a:srgbClr val="5B6372"/>
                </a:solidFill>
                <a:latin typeface="Arial"/>
              </a:rPr>
              <a:t>25% — together with delays this is the vital few: 65%.</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8982456"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Wrong queue · 18</a:t>
            </a:r>
          </a:p>
          <a:p>
            <a:pPr algn="l">
              <a:spcAft>
                <a:spcPts val="300"/>
              </a:spcAft>
            </a:pPr>
            <a:r>
              <a:rPr sz="900" b="0">
                <a:solidFill>
                  <a:srgbClr val="5B6372"/>
                </a:solidFill>
                <a:latin typeface="Arial"/>
              </a:rPr>
              <a:t>15% — tickets bouncing between teams.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Reopened ticket · 12</a:t>
            </a:r>
          </a:p>
          <a:p>
            <a:pPr algn="l">
              <a:spcAft>
                <a:spcPts val="300"/>
              </a:spcAft>
            </a:pPr>
            <a:r>
              <a:rPr sz="900" b="0">
                <a:solidFill>
                  <a:srgbClr val="5B6372"/>
                </a:solidFill>
                <a:latin typeface="Arial"/>
              </a:rPr>
              <a:t>10% — the fix did not hold the first time.</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5346192"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Duplicate ticket · 8</a:t>
            </a:r>
          </a:p>
          <a:p>
            <a:pPr algn="l">
              <a:spcAft>
                <a:spcPts val="300"/>
              </a:spcAft>
            </a:pPr>
            <a:r>
              <a:rPr sz="900" b="0">
                <a:solidFill>
                  <a:srgbClr val="5B6372"/>
                </a:solidFill>
                <a:latin typeface="Arial"/>
              </a:rPr>
              <a:t>6.7% — the same issue logged twice.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8982456"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Unclear status · 4</a:t>
            </a:r>
          </a:p>
          <a:p>
            <a:pPr algn="l">
              <a:spcAft>
                <a:spcPts val="300"/>
              </a:spcAft>
            </a:pPr>
            <a:r>
              <a:rPr sz="900" b="0">
                <a:solidFill>
                  <a:srgbClr val="5B6372"/>
                </a:solidFill>
                <a:latin typeface="Arial"/>
              </a:rPr>
              <a:t>3.3% — the trivial many, by count.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activities/01 - Yellow Belt Role, Certification.../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templates/belt-pathway-comparison.csv</a:t>
            </a:r>
          </a:p>
          <a:p>
            <a:pPr algn="l">
              <a:spcAft>
                <a:spcPts val="300"/>
              </a:spcAft>
            </a:pPr>
            <a:r>
              <a:rPr sz="1000" b="0">
                <a:solidFill>
                  <a:srgbClr val="5B6372"/>
                </a:solidFill>
                <a:latin typeface="Arial"/>
              </a:rPr>
              <a:t>Worksheet to complete · belt, typical_role, training_days, +2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templates/project-selection-criteria.csv</a:t>
            </a:r>
          </a:p>
          <a:p>
            <a:pPr algn="l">
              <a:spcAft>
                <a:spcPts val="300"/>
              </a:spcAft>
            </a:pPr>
            <a:r>
              <a:rPr sz="1000" b="0">
                <a:solidFill>
                  <a:srgbClr val="5B6372"/>
                </a:solidFill>
                <a:latin typeface="Arial"/>
              </a:rPr>
              <a:t>Worksheet to complete · criterion, does_the_scenario_meet_it, evidence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templates/yellow-belt-responsibilities.csv</a:t>
            </a:r>
          </a:p>
          <a:p>
            <a:pPr algn="l">
              <a:spcAft>
                <a:spcPts val="300"/>
              </a:spcAft>
            </a:pPr>
            <a:r>
              <a:rPr sz="1000" b="0">
                <a:solidFill>
                  <a:srgbClr val="5B6372"/>
                </a:solidFill>
                <a:latin typeface="Arial"/>
              </a:rPr>
              <a:t>Worksheet to complete · responsibility, your_contribution, +1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activity work and assessment are marked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Activity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2 — Lean, Six Sigma, Waste, Voice of Customer,</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3 — SIPOC, Process Mapping, Handoffs, and SME </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5 — DMAIC Overview, Problem Statement, Scope,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activities/02 - Lean, Six Sigma, Waste, Voice of.../</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2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data/waste-walk-observations.csv</a:t>
            </a:r>
          </a:p>
          <a:p>
            <a:pPr algn="l">
              <a:spcAft>
                <a:spcPts val="300"/>
              </a:spcAft>
            </a:pPr>
            <a:r>
              <a:rPr sz="1000" b="0">
                <a:solidFill>
                  <a:srgbClr val="5B6372"/>
                </a:solidFill>
                <a:latin typeface="Arial"/>
              </a:rPr>
              <a:t>10 rows · obs_id, observation, process_step, time_lost_min, waste_type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templates/value-added-analysis.csv</a:t>
            </a:r>
          </a:p>
          <a:p>
            <a:pPr algn="l">
              <a:spcAft>
                <a:spcPts val="300"/>
              </a:spcAft>
            </a:pPr>
            <a:r>
              <a:rPr sz="1000" b="0">
                <a:solidFill>
                  <a:srgbClr val="5B6372"/>
                </a:solidFill>
                <a:latin typeface="Arial"/>
              </a:rPr>
              <a:t>Worksheet to complete · step_no, activity, VA_BVA_NVA, justification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templates/voc-to-ctq.csv</a:t>
            </a:r>
          </a:p>
          <a:p>
            <a:pPr algn="l">
              <a:spcAft>
                <a:spcPts val="300"/>
              </a:spcAft>
            </a:pPr>
            <a:r>
              <a:rPr sz="1000" b="0">
                <a:solidFill>
                  <a:srgbClr val="5B6372"/>
                </a:solidFill>
                <a:latin typeface="Arial"/>
              </a:rPr>
              <a:t>Worksheet to complete · voc_id, customer_statement, need, ctq_requirement, +2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activities/03 - SIPOC, Process Mapping, Handoffs,.../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templates/handoff-register.csv</a:t>
            </a:r>
          </a:p>
          <a:p>
            <a:pPr algn="l">
              <a:spcAft>
                <a:spcPts val="300"/>
              </a:spcAft>
            </a:pPr>
            <a:r>
              <a:rPr sz="1000" b="0">
                <a:solidFill>
                  <a:srgbClr val="5B6372"/>
                </a:solidFill>
                <a:latin typeface="Arial"/>
              </a:rPr>
              <a:t>Worksheet to complete · handoff_no, from_actor, to_actor, trigger, +2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templates/sipoc.csv</a:t>
            </a:r>
          </a:p>
          <a:p>
            <a:pPr algn="l">
              <a:spcAft>
                <a:spcPts val="300"/>
              </a:spcAft>
            </a:pPr>
            <a:r>
              <a:rPr sz="1000" b="0">
                <a:solidFill>
                  <a:srgbClr val="5B6372"/>
                </a:solidFill>
                <a:latin typeface="Arial"/>
              </a:rPr>
              <a:t>Worksheet to complete · suppliers, inputs, process_step, outputs,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activities/04 - PDCA Small Improvement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4 — Your Data Files</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400" b="1">
                <a:solidFill>
                  <a:srgbClr val="161B26"/>
                </a:solidFill>
                <a:latin typeface="Arial"/>
              </a:rPr>
              <a:t>templates/pdca-charter.csv</a:t>
            </a:r>
          </a:p>
          <a:p>
            <a:pPr algn="l">
              <a:spcAft>
                <a:spcPts val="300"/>
              </a:spcAft>
            </a:pPr>
            <a:r>
              <a:rPr sz="1000" b="0">
                <a:solidFill>
                  <a:srgbClr val="5B6372"/>
                </a:solidFill>
                <a:latin typeface="Arial"/>
              </a:rPr>
              <a:t>Worksheet to complete · section, content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Activity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activities/05 - DMAIC Overview, Problem.../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5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templates/dmaic-phase-table.csv</a:t>
            </a:r>
          </a:p>
          <a:p>
            <a:pPr algn="l">
              <a:spcAft>
                <a:spcPts val="300"/>
              </a:spcAft>
            </a:pPr>
            <a:r>
              <a:rPr sz="1000" b="0">
                <a:solidFill>
                  <a:srgbClr val="5B6372"/>
                </a:solidFill>
                <a:latin typeface="Arial"/>
              </a:rPr>
              <a:t>Worksheet to complete · phase, purpose, key_deliverable, +1 more</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templates/stakeholder-map.csv</a:t>
            </a:r>
          </a:p>
          <a:p>
            <a:pPr algn="l">
              <a:spcAft>
                <a:spcPts val="300"/>
              </a:spcAft>
            </a:pPr>
            <a:r>
              <a:rPr sz="1000" b="0">
                <a:solidFill>
                  <a:srgbClr val="5B6372"/>
                </a:solidFill>
                <a:latin typeface="Arial"/>
              </a:rPr>
              <a:t>Worksheet to complete · stakeholder, interest, influence_H_M_L, +2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activities/11 -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11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templates/affinity-groups.csv</a:t>
            </a:r>
          </a:p>
          <a:p>
            <a:pPr algn="l">
              <a:spcAft>
                <a:spcPts val="300"/>
              </a:spcAft>
            </a:pPr>
            <a:r>
              <a:rPr sz="1000" b="0">
                <a:solidFill>
                  <a:srgbClr val="5B6372"/>
                </a:solidFill>
                <a:latin typeface="Arial"/>
              </a:rPr>
              <a:t>Worksheet to complete · voc_id, statement, affinity_group</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templates/kano-classification.csv</a:t>
            </a:r>
          </a:p>
          <a:p>
            <a:pPr algn="l">
              <a:spcAft>
                <a:spcPts val="300"/>
              </a:spcAft>
            </a:pPr>
            <a:r>
              <a:rPr sz="1000" b="0">
                <a:solidFill>
                  <a:srgbClr val="5B6372"/>
                </a:solidFill>
                <a:latin typeface="Arial"/>
              </a:rPr>
              <a:t>Worksheet to complete · requirement, kano_class_MustBe_OneDim_Delighter,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6 — Data Collection, KPIs, Check Sheets, and B</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activities/06 - Data Collection, KPIs,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6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templates/check-sheet.csv</a:t>
            </a:r>
          </a:p>
          <a:p>
            <a:pPr algn="l">
              <a:spcAft>
                <a:spcPts val="300"/>
              </a:spcAft>
            </a:pPr>
            <a:r>
              <a:rPr sz="1000" b="0">
                <a:solidFill>
                  <a:srgbClr val="5B6372"/>
                </a:solidFill>
                <a:latin typeface="Arial"/>
              </a:rPr>
              <a:t>Worksheet to complete · date, ticket_id, ticket_type, assignment_time_min, +3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templates/data-collection-plan.csv</a:t>
            </a:r>
          </a:p>
          <a:p>
            <a:pPr algn="l">
              <a:spcAft>
                <a:spcPts val="300"/>
              </a:spcAft>
            </a:pPr>
            <a:r>
              <a:rPr sz="1000" b="0">
                <a:solidFill>
                  <a:srgbClr val="5B6372"/>
                </a:solidFill>
                <a:latin typeface="Arial"/>
              </a:rPr>
              <a:t>Worksheet to complete · kpi, operational_definition, data_type, +4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Activity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activities/12 -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12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templates/takt-time.csv</a:t>
            </a:r>
          </a:p>
          <a:p>
            <a:pPr algn="l">
              <a:spcAft>
                <a:spcPts val="300"/>
              </a:spcAft>
            </a:pPr>
            <a:r>
              <a:rPr sz="1000" b="0">
                <a:solidFill>
                  <a:srgbClr val="5B6372"/>
                </a:solidFill>
                <a:latin typeface="Arial"/>
              </a:rPr>
              <a:t>Worksheet to complete · input, value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templates/value-stream-map.csv</a:t>
            </a:r>
          </a:p>
          <a:p>
            <a:pPr algn="l">
              <a:spcAft>
                <a:spcPts val="300"/>
              </a:spcAft>
            </a:pPr>
            <a:r>
              <a:rPr sz="1000" b="0">
                <a:solidFill>
                  <a:srgbClr val="5B6372"/>
                </a:solidFill>
                <a:latin typeface="Arial"/>
              </a:rPr>
              <a:t>Worksheet to complete · step_no, activity, process_time_min, wait_time_min,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7 — Pareto, Run Charts, Variation, Yield, DPU,</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8 — Root Cause Analysis with 5 Whys, Fishbone,</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activities/07 - Pareto, Run Charts,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7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templates/pareto-table.csv</a:t>
            </a:r>
          </a:p>
          <a:p>
            <a:pPr algn="l">
              <a:spcAft>
                <a:spcPts val="300"/>
              </a:spcAft>
            </a:pPr>
            <a:r>
              <a:rPr sz="1000" b="0">
                <a:solidFill>
                  <a:srgbClr val="5B6372"/>
                </a:solidFill>
                <a:latin typeface="Arial"/>
              </a:rPr>
              <a:t>Worksheet to complete · defect_category, count, percent, +1 more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templates/process-metrics.csv</a:t>
            </a:r>
          </a:p>
          <a:p>
            <a:pPr algn="l">
              <a:spcAft>
                <a:spcPts val="300"/>
              </a:spcAft>
            </a:pPr>
            <a:r>
              <a:rPr sz="1000" b="0">
                <a:solidFill>
                  <a:srgbClr val="5B6372"/>
                </a:solidFill>
                <a:latin typeface="Arial"/>
              </a:rPr>
              <a:t>Worksheet to complete · metric, formula, your_calculation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Activity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activities/08 - Root Cause Analysis with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8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data/root-cause-evidence.csv</a:t>
            </a:r>
          </a:p>
          <a:p>
            <a:pPr algn="l">
              <a:spcAft>
                <a:spcPts val="300"/>
              </a:spcAft>
            </a:pPr>
            <a:r>
              <a:rPr sz="1000" b="0">
                <a:solidFill>
                  <a:srgbClr val="5B6372"/>
                </a:solidFill>
                <a:latin typeface="Arial"/>
              </a:rPr>
              <a:t>8 rows · evidence_id, observation, source, supports_cause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templates/cause-evidence-test.csv</a:t>
            </a:r>
          </a:p>
          <a:p>
            <a:pPr algn="l">
              <a:spcAft>
                <a:spcPts val="300"/>
              </a:spcAft>
            </a:pPr>
            <a:r>
              <a:rPr sz="1000" b="0">
                <a:solidFill>
                  <a:srgbClr val="5B6372"/>
                </a:solidFill>
                <a:latin typeface="Arial"/>
              </a:rPr>
              <a:t>Worksheet to complete · candidate_cause, evidence_that_supports_it, +2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templates/fishbone-causes.csv</a:t>
            </a:r>
          </a:p>
          <a:p>
            <a:pPr algn="l">
              <a:spcAft>
                <a:spcPts val="300"/>
              </a:spcAft>
            </a:pPr>
            <a:r>
              <a:rPr sz="1000" b="0">
                <a:solidFill>
                  <a:srgbClr val="5B6372"/>
                </a:solidFill>
                <a:latin typeface="Arial"/>
              </a:rPr>
              <a:t>Worksheet to complete · category, possible_cause, supported_by_evidence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templates/five-whys.csv</a:t>
            </a:r>
          </a:p>
          <a:p>
            <a:pPr algn="l">
              <a:spcAft>
                <a:spcPts val="300"/>
              </a:spcAft>
            </a:pPr>
            <a:r>
              <a:rPr sz="1000" b="0">
                <a:solidFill>
                  <a:srgbClr val="5B6372"/>
                </a:solidFill>
                <a:latin typeface="Arial"/>
              </a:rPr>
              <a:t>Worksheet to complete · why_level, question, answer, evidence_needed, +1 more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9 — Countermeasures, 5S, Mistake Proofing, Sta</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activities/09 - Countermeasures, 5S, Mistake.../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9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templates/5s-plan.csv</a:t>
            </a:r>
          </a:p>
          <a:p>
            <a:pPr algn="l">
              <a:spcAft>
                <a:spcPts val="300"/>
              </a:spcAft>
            </a:pPr>
            <a:r>
              <a:rPr sz="1000" b="0">
                <a:solidFill>
                  <a:srgbClr val="5B6372"/>
                </a:solidFill>
                <a:latin typeface="Arial"/>
              </a:rPr>
              <a:t>Worksheet to complete · S, what_it_means_here, action, owner</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templates/countermeasures.csv</a:t>
            </a:r>
          </a:p>
          <a:p>
            <a:pPr algn="l">
              <a:spcAft>
                <a:spcPts val="300"/>
              </a:spcAft>
            </a:pPr>
            <a:r>
              <a:rPr sz="1000" b="0">
                <a:solidFill>
                  <a:srgbClr val="5B6372"/>
                </a:solidFill>
                <a:latin typeface="Arial"/>
              </a:rPr>
              <a:t>Worksheet to complete · root_cause, countermeasure, +4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activities/13 - Solution Selection Matrix,.../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data/candidate-solutions.csv</a:t>
            </a:r>
          </a:p>
          <a:p>
            <a:pPr algn="l">
              <a:spcAft>
                <a:spcPts val="300"/>
              </a:spcAft>
            </a:pPr>
            <a:r>
              <a:rPr sz="1000" b="0">
                <a:solidFill>
                  <a:srgbClr val="5B6372"/>
                </a:solidFill>
                <a:latin typeface="Arial"/>
              </a:rPr>
              <a:t>5 rows · solution_id, candidate_solution, est_cost, est_effort_days</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templates/fmea.csv</a:t>
            </a:r>
          </a:p>
          <a:p>
            <a:pPr algn="l">
              <a:spcAft>
                <a:spcPts val="300"/>
              </a:spcAft>
            </a:pPr>
            <a:r>
              <a:rPr sz="1000" b="0">
                <a:solidFill>
                  <a:srgbClr val="5B6372"/>
                </a:solidFill>
                <a:latin typeface="Arial"/>
              </a:rPr>
              <a:t>Worksheet to complete · process_step, failure_mode, effect, cause, +5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templates/solution-selection-matrix.csv</a:t>
            </a:r>
          </a:p>
          <a:p>
            <a:pPr algn="l">
              <a:spcAft>
                <a:spcPts val="300"/>
              </a:spcAft>
            </a:pPr>
            <a:r>
              <a:rPr sz="1000" b="0">
                <a:solidFill>
                  <a:srgbClr val="5B6372"/>
                </a:solidFill>
                <a:latin typeface="Arial"/>
              </a:rPr>
              <a:t>Worksheet to complete · solution, impact_w5, cost_w3, ease_w2,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10 — Control Plan, A3 Summary, Handover, and Ce</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activities/10 - Control Plan, A3 Summary,.../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10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templates/a3-summary.csv</a:t>
            </a:r>
          </a:p>
          <a:p>
            <a:pPr algn="l">
              <a:spcAft>
                <a:spcPts val="300"/>
              </a:spcAft>
            </a:pPr>
            <a:r>
              <a:rPr sz="1000" b="0">
                <a:solidFill>
                  <a:srgbClr val="5B6372"/>
                </a:solidFill>
                <a:latin typeface="Arial"/>
              </a:rPr>
              <a:t>Worksheet to complete · a3_section, content</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templates/control-plan.csv</a:t>
            </a:r>
          </a:p>
          <a:p>
            <a:pPr algn="l">
              <a:spcAft>
                <a:spcPts val="300"/>
              </a:spcAft>
            </a:pPr>
            <a:r>
              <a:rPr sz="1000" b="0">
                <a:solidFill>
                  <a:srgbClr val="5B6372"/>
                </a:solidFill>
                <a:latin typeface="Arial"/>
              </a:rPr>
              <a:t>Worksheet to complete · process_step, metric, target, owner, +2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templates/handover-checklist.csv</a:t>
            </a:r>
          </a:p>
          <a:p>
            <a:pPr algn="l">
              <a:spcAft>
                <a:spcPts val="300"/>
              </a:spcAft>
            </a:pPr>
            <a:r>
              <a:rPr sz="1000" b="0">
                <a:solidFill>
                  <a:srgbClr val="5B6372"/>
                </a:solidFill>
                <a:latin typeface="Arial"/>
              </a:rPr>
              <a:t>Worksheet to complete · handover_item, accepted_by, date, notes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activities/14 - Descriptive Statistics and.../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14 — Your Data Files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templates/descriptive-statistics.csv</a:t>
            </a:r>
          </a:p>
          <a:p>
            <a:pPr algn="l">
              <a:spcAft>
                <a:spcPts val="300"/>
              </a:spcAft>
            </a:pPr>
            <a:r>
              <a:rPr sz="1000" b="0">
                <a:solidFill>
                  <a:srgbClr val="5B6372"/>
                </a:solidFill>
                <a:latin typeface="Arial"/>
              </a:rPr>
              <a:t>Worksheet to complete · statistic, formula_or_function, your_value</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templates/implementation-plan.csv</a:t>
            </a:r>
          </a:p>
          <a:p>
            <a:pPr algn="l">
              <a:spcAft>
                <a:spcPts val="300"/>
              </a:spcAft>
            </a:pPr>
            <a:r>
              <a:rPr sz="1000" b="0">
                <a:solidFill>
                  <a:srgbClr val="5B6372"/>
                </a:solidFill>
                <a:latin typeface="Arial"/>
              </a:rPr>
              <a:t>Worksheet to complete · action, owner, start_date, due_date, barrier, +1 more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the assessment.</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BEFORE THE ASSESSMENT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Final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activity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ASSESSMENT</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Final Assessment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Written Assessment (SAQ, 60 minutes) followed by the Case Study (90 minutes). Both are open book.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ON ASSESSMENT DAY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Assessment Flow</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TRAQOM survey — scan the QR code on the LMS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Assessment digital attendance — scan the SSG QR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Sit the WA (SAQ), then the Case Study — open book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Submit your answers on the LMS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the Assessment Summary Record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TRAQOM · SSG DIGITAL ATTENDANCE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Digital Attendance (Assessment)</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Trainer displays the SSG digital attendance QR code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Scan the QR code with your phone camera</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your NRIC/FIN and submit</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Attendance must be recorded before you begin the papers</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TRAQOM Survey</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TRAQOM survey link on the LMS</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last four characters of your NRIC/FIN</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Key in the six-digit course run ID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Two e-certificates are awarded on demonstrating competency and achieving at least 75% attendance.</a:t>
            </a:r>
          </a:p>
          <a:p>
            <a:pPr>
              <a:spcAft>
                <a:spcPts val="1000"/>
              </a:spcAft>
            </a:pPr>
            <a:r>
              <a:rPr sz="2000">
                <a:solidFill>
                  <a:srgbClr val="161B26"/>
                </a:solidFill>
                <a:latin typeface="Arial"/>
              </a:rPr>
              <a:t>•  A SkillsFuture Statement of Attainment (SOA) is issued for the WSQ assessment.</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Training  ·  TGS-2025053922</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