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Yellow Belt (CLSSYB)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TGS-2025053922</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v7  ·  20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2 Days, 8 Hours per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Six Sigma foundations, Define phase and process mapping</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belts, DMAIC</a:t>
            </a:r>
          </a:p>
          <a:p>
            <a:pPr>
              <a:spcAft>
                <a:spcPts val="1000"/>
              </a:spcAft>
            </a:pPr>
            <a:r>
              <a:rPr sz="1300">
                <a:solidFill>
                  <a:srgbClr val="5B6372"/>
                </a:solidFill>
                <a:latin typeface="Arial"/>
              </a:rPr>
              <a:t>–  Lab 1 — Yellow Belt role and scenario</a:t>
            </a:r>
          </a:p>
          <a:p>
            <a:pPr>
              <a:spcAft>
                <a:spcPts val="1000"/>
              </a:spcAft>
            </a:pPr>
            <a:r>
              <a:rPr sz="1300">
                <a:solidFill>
                  <a:srgbClr val="5B6372"/>
                </a:solidFill>
                <a:latin typeface="Arial"/>
              </a:rPr>
              <a:t>–  DEFINE: VOC, CTQ, charter, SIPOC, process mapping</a:t>
            </a:r>
          </a:p>
          <a:p>
            <a:pPr>
              <a:spcAft>
                <a:spcPts val="1000"/>
              </a:spcAft>
            </a:pPr>
            <a:r>
              <a:rPr sz="1300">
                <a:solidFill>
                  <a:srgbClr val="5B6372"/>
                </a:solidFill>
                <a:latin typeface="Arial"/>
              </a:rPr>
              <a:t>–  Labs 2-5 — VOC/waste, SIPOC, PDCA charter, DMAIC Define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Analyse, Improve, Control and assessment</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MEASURE: wastes, data types, check sheets, DPMO</a:t>
            </a:r>
          </a:p>
          <a:p>
            <a:pPr>
              <a:spcAft>
                <a:spcPts val="1000"/>
              </a:spcAft>
            </a:pPr>
            <a:r>
              <a:rPr sz="1300">
                <a:solidFill>
                  <a:srgbClr val="5B6372"/>
                </a:solidFill>
                <a:latin typeface="Arial"/>
              </a:rPr>
              <a:t>–  Lab 6 — Data collection and KPIs</a:t>
            </a:r>
          </a:p>
          <a:p>
            <a:pPr>
              <a:spcAft>
                <a:spcPts val="1000"/>
              </a:spcAft>
            </a:pPr>
            <a:r>
              <a:rPr sz="1300">
                <a:solidFill>
                  <a:srgbClr val="5B6372"/>
                </a:solidFill>
                <a:latin typeface="Arial"/>
              </a:rPr>
              <a:t>–  ANALYZE: Pareto, run charts, 5 Whys, Fishbone</a:t>
            </a:r>
          </a:p>
          <a:p>
            <a:pPr>
              <a:spcAft>
                <a:spcPts val="1000"/>
              </a:spcAft>
            </a:pPr>
            <a:r>
              <a:rPr sz="1300">
                <a:solidFill>
                  <a:srgbClr val="5B6372"/>
                </a:solidFill>
                <a:latin typeface="Arial"/>
              </a:rPr>
              <a:t>–  Labs 7-8 — Data analysis and root cause</a:t>
            </a:r>
          </a:p>
          <a:p>
            <a:pPr>
              <a:spcAft>
                <a:spcPts val="1000"/>
              </a:spcAft>
            </a:pPr>
            <a:r>
              <a:rPr sz="1300">
                <a:solidFill>
                  <a:srgbClr val="5B6372"/>
                </a:solidFill>
                <a:latin typeface="Arial"/>
              </a:rPr>
              <a:t>–  IMPROVE &amp; CONTROL: 5S, poka-yoke, control plan, A3</a:t>
            </a:r>
          </a:p>
          <a:p>
            <a:pPr>
              <a:spcAft>
                <a:spcPts val="1000"/>
              </a:spcAft>
            </a:pPr>
            <a:r>
              <a:rPr sz="1300">
                <a:solidFill>
                  <a:srgbClr val="5B6372"/>
                </a:solidFill>
                <a:latin typeface="Arial"/>
              </a:rPr>
              <a:t>–  Labs 9-10 · Revision · Final Assessment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Define project to meet process performance.</a:t>
            </a:r>
          </a:p>
          <a:p>
            <a:pPr>
              <a:spcAft>
                <a:spcPts val="1000"/>
              </a:spcAft>
            </a:pPr>
            <a:r>
              <a:rPr sz="1600">
                <a:solidFill>
                  <a:srgbClr val="161B26"/>
                </a:solidFill>
                <a:latin typeface="Arial"/>
              </a:rPr>
              <a:t>•  A2: Establish project scope of work and the number of hours based on organisational requirements.</a:t>
            </a:r>
          </a:p>
          <a:p>
            <a:pPr>
              <a:spcAft>
                <a:spcPts val="1000"/>
              </a:spcAft>
            </a:pPr>
            <a:r>
              <a:rPr sz="1600">
                <a:solidFill>
                  <a:srgbClr val="161B26"/>
                </a:solidFill>
                <a:latin typeface="Arial"/>
              </a:rPr>
              <a:t>•  A3: Analyse process performance data to identify root causes of variation.</a:t>
            </a:r>
          </a:p>
          <a:p>
            <a:pPr>
              <a:spcAft>
                <a:spcPts val="1000"/>
              </a:spcAft>
            </a:pPr>
            <a:r>
              <a:rPr sz="1600">
                <a:solidFill>
                  <a:srgbClr val="161B26"/>
                </a:solidFill>
                <a:latin typeface="Arial"/>
              </a:rPr>
              <a:t>•  A4: Measure process performance against defined quality standards.</a:t>
            </a:r>
          </a:p>
          <a:p>
            <a:pPr>
              <a:spcAft>
                <a:spcPts val="1000"/>
              </a:spcAft>
            </a:pPr>
            <a:r>
              <a:rPr sz="1600">
                <a:solidFill>
                  <a:srgbClr val="161B26"/>
                </a:solidFill>
                <a:latin typeface="Arial"/>
              </a:rPr>
              <a:t>•  A5: Recommend improvement and control actions to sustain process performance.</a:t>
            </a:r>
          </a:p>
          <a:p>
            <a:pPr>
              <a:spcAft>
                <a:spcPts val="1000"/>
              </a:spcAft>
            </a:pPr>
            <a:r>
              <a:rPr sz="1600">
                <a:solidFill>
                  <a:srgbClr val="161B26"/>
                </a:solidFill>
                <a:latin typeface="Arial"/>
              </a:rPr>
              <a:t>•  K1: Lean and Six Sigma concepts, wastes, value and variation.</a:t>
            </a:r>
          </a:p>
          <a:p>
            <a:pPr>
              <a:spcAft>
                <a:spcPts val="1000"/>
              </a:spcAft>
            </a:pPr>
            <a:r>
              <a:rPr sz="1600">
                <a:solidFill>
                  <a:srgbClr val="161B26"/>
                </a:solidFill>
                <a:latin typeface="Arial"/>
              </a:rPr>
              <a:t>•  K2: Quality tools and techniques for process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Define &amp; scope</a:t>
            </a:r>
          </a:p>
          <a:p>
            <a:pPr algn="l">
              <a:spcAft>
                <a:spcPts val="300"/>
              </a:spcAft>
            </a:pPr>
            <a:r>
              <a:rPr sz="1100" b="0">
                <a:solidFill>
                  <a:srgbClr val="5B6372"/>
                </a:solidFill>
                <a:latin typeface="Arial"/>
              </a:rPr>
              <a:t>Define a project and establish scope using Define, Measure and Analyse.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Lean &amp; Six Sigma concepts</a:t>
            </a:r>
          </a:p>
          <a:p>
            <a:pPr algn="l">
              <a:spcAft>
                <a:spcPts val="300"/>
              </a:spcAft>
            </a:pPr>
            <a:r>
              <a:rPr sz="1100" b="0">
                <a:solidFill>
                  <a:srgbClr val="5B6372"/>
                </a:solidFill>
                <a:latin typeface="Arial"/>
              </a:rPr>
              <a:t>Apply value, waste, defects and variation to a work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Map the process</a:t>
            </a:r>
          </a:p>
          <a:p>
            <a:pPr algn="l">
              <a:spcAft>
                <a:spcPts val="300"/>
              </a:spcAft>
            </a:pPr>
            <a:r>
              <a:rPr sz="1100" b="0">
                <a:solidFill>
                  <a:srgbClr val="5B6372"/>
                </a:solidFill>
                <a:latin typeface="Arial"/>
              </a:rPr>
              <a:t>Use SIPOC, process maps and value stream maps to expose handoffs.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 &amp; analyse</a:t>
            </a:r>
          </a:p>
          <a:p>
            <a:pPr algn="l">
              <a:spcAft>
                <a:spcPts val="300"/>
              </a:spcAft>
            </a:pPr>
            <a:r>
              <a:rPr sz="1100" b="0">
                <a:solidFill>
                  <a:srgbClr val="5B6372"/>
                </a:solidFill>
                <a:latin typeface="Arial"/>
              </a:rPr>
              <a:t>Use check sheets, Pareto, run charts and process metrics.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Root cause</a:t>
            </a:r>
          </a:p>
          <a:p>
            <a:pPr algn="l">
              <a:spcAft>
                <a:spcPts val="300"/>
              </a:spcAft>
            </a:pPr>
            <a:r>
              <a:rPr sz="1100" b="0">
                <a:solidFill>
                  <a:srgbClr val="5B6372"/>
                </a:solidFill>
                <a:latin typeface="Arial"/>
              </a:rPr>
              <a:t>Identify root causes with 5 Whys, Fishbone and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Recommend improvement and control actions that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Foundations + Define</a:t>
            </a:r>
          </a:p>
          <a:p>
            <a:pPr>
              <a:spcAft>
                <a:spcPts val="600"/>
              </a:spcAft>
            </a:pPr>
            <a:r>
              <a:rPr sz="1100">
                <a:solidFill>
                  <a:srgbClr val="161B26"/>
                </a:solidFill>
                <a:latin typeface="Arial"/>
              </a:rPr>
              <a:t>•  VOC, CTQ, charter</a:t>
            </a:r>
          </a:p>
          <a:p>
            <a:pPr>
              <a:spcAft>
                <a:spcPts val="600"/>
              </a:spcAft>
            </a:pPr>
            <a:r>
              <a:rPr sz="1100">
                <a:solidFill>
                  <a:srgbClr val="161B26"/>
                </a:solidFill>
                <a:latin typeface="Arial"/>
              </a:rPr>
              <a:t>•  SIPOC, process maps</a:t>
            </a:r>
          </a:p>
          <a:p>
            <a:pPr>
              <a:spcAft>
                <a:spcPts val="600"/>
              </a:spcAft>
            </a:pPr>
            <a:r>
              <a:rPr sz="1100">
                <a:solidFill>
                  <a:srgbClr val="161B26"/>
                </a:solidFill>
                <a:latin typeface="Arial"/>
              </a:rPr>
              <a:t>•  Labs 1-5</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8 wastes, data types</a:t>
            </a:r>
          </a:p>
          <a:p>
            <a:pPr>
              <a:spcAft>
                <a:spcPts val="600"/>
              </a:spcAft>
            </a:pPr>
            <a:r>
              <a:rPr sz="1100">
                <a:solidFill>
                  <a:srgbClr val="161B26"/>
                </a:solidFill>
                <a:latin typeface="Arial"/>
              </a:rPr>
              <a:t>•  Collection plan</a:t>
            </a:r>
          </a:p>
          <a:p>
            <a:pPr>
              <a:spcAft>
                <a:spcPts val="600"/>
              </a:spcAft>
            </a:pPr>
            <a:r>
              <a:rPr sz="1100">
                <a:solidFill>
                  <a:srgbClr val="161B26"/>
                </a:solidFill>
                <a:latin typeface="Arial"/>
              </a:rPr>
              <a:t>•  Yield, DPMO, sigma</a:t>
            </a:r>
          </a:p>
          <a:p>
            <a:pPr>
              <a:spcAft>
                <a:spcPts val="600"/>
              </a:spcAft>
            </a:pPr>
            <a:r>
              <a:rPr sz="1100">
                <a:solidFill>
                  <a:srgbClr val="161B26"/>
                </a:solidFill>
                <a:latin typeface="Arial"/>
              </a:rPr>
              <a:t>•  Lab 6</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Variation</a:t>
            </a:r>
          </a:p>
          <a:p>
            <a:pPr>
              <a:spcAft>
                <a:spcPts val="600"/>
              </a:spcAft>
            </a:pPr>
            <a:r>
              <a:rPr sz="1100">
                <a:solidFill>
                  <a:srgbClr val="161B26"/>
                </a:solidFill>
                <a:latin typeface="Arial"/>
              </a:rPr>
              <a:t>•  Pareto, run charts</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Labs 7-8</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selection</a:t>
            </a:r>
          </a:p>
          <a:p>
            <a:pPr>
              <a:spcAft>
                <a:spcPts val="600"/>
              </a:spcAft>
            </a:pPr>
            <a:r>
              <a:rPr sz="1100">
                <a:solidFill>
                  <a:srgbClr val="161B26"/>
                </a:solidFill>
                <a:latin typeface="Arial"/>
              </a:rPr>
              <a:t>•  5S, poka-yoke</a:t>
            </a:r>
          </a:p>
          <a:p>
            <a:pPr>
              <a:spcAft>
                <a:spcPts val="600"/>
              </a:spcAft>
            </a:pPr>
            <a:r>
              <a:rPr sz="1100">
                <a:solidFill>
                  <a:srgbClr val="161B26"/>
                </a:solidFill>
                <a:latin typeface="Arial"/>
              </a:rPr>
              <a:t>•  Standard work</a:t>
            </a:r>
          </a:p>
          <a:p>
            <a:pPr>
              <a:spcAft>
                <a:spcPts val="600"/>
              </a:spcAft>
            </a:pPr>
            <a:r>
              <a:rPr sz="1100">
                <a:solidFill>
                  <a:srgbClr val="161B26"/>
                </a:solidFill>
                <a:latin typeface="Arial"/>
              </a:rPr>
              <a:t>•  Lab 9</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A3 and handover</a:t>
            </a:r>
          </a:p>
          <a:p>
            <a:pPr>
              <a:spcAft>
                <a:spcPts val="600"/>
              </a:spcAft>
            </a:pPr>
            <a:r>
              <a:rPr sz="1100">
                <a:solidFill>
                  <a:srgbClr val="161B26"/>
                </a:solidFill>
                <a:latin typeface="Arial"/>
              </a:rPr>
              <a:t>•  Lab 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Place phones and other materials under the table or on the floor.</a:t>
            </a:r>
          </a:p>
          <a:p>
            <a:pPr>
              <a:spcAft>
                <a:spcPts val="1000"/>
              </a:spcAft>
            </a:pPr>
            <a:r>
              <a:rPr sz="2000">
                <a:solidFill>
                  <a:srgbClr val="161B26"/>
                </a:solidFill>
                <a:latin typeface="Arial"/>
              </a:rPr>
              <a:t>•  No photos or recording of assessment scripts.</a:t>
            </a:r>
          </a:p>
          <a:p>
            <a:pPr>
              <a:spcAft>
                <a:spcPts val="1000"/>
              </a:spcAft>
            </a:pPr>
            <a:r>
              <a:rPr sz="2000">
                <a:solidFill>
                  <a:srgbClr val="161B26"/>
                </a:solidFill>
                <a:latin typeface="Arial"/>
              </a:rPr>
              <a:t>•  No discussion during the assessment.</a:t>
            </a:r>
          </a:p>
          <a:p>
            <a:pPr>
              <a:spcAft>
                <a:spcPts val="1000"/>
              </a:spcAft>
            </a:pPr>
            <a:r>
              <a:rPr sz="2000">
                <a:solidFill>
                  <a:srgbClr val="161B26"/>
                </a:solidFill>
                <a:latin typeface="Arial"/>
              </a:rPr>
              <a:t>•  Use a black/blue pen for hard-copy assessments.</a:t>
            </a:r>
          </a:p>
          <a:p>
            <a:pPr>
              <a:spcAft>
                <a:spcPts val="1000"/>
              </a:spcAft>
            </a:pPr>
            <a:r>
              <a:rPr sz="2000">
                <a:solidFill>
                  <a:srgbClr val="161B26"/>
                </a:solidFill>
                <a:latin typeface="Arial"/>
              </a:rPr>
              <a:t>•  No liquid paper / correction tape.</a:t>
            </a:r>
          </a:p>
          <a:p>
            <a:pPr>
              <a:spcAft>
                <a:spcPts val="1000"/>
              </a:spcAft>
            </a:pPr>
            <a:r>
              <a:rPr sz="2000">
                <a:solidFill>
                  <a:srgbClr val="161B26"/>
                </a:solidFill>
                <a:latin typeface="Arial"/>
              </a:rPr>
              <a:t>•  Scripts are collected when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Written Assessment (WA) — Short-Answer Questions (SAQ), 60 minutes, open book.</a:t>
            </a:r>
          </a:p>
          <a:p>
            <a:pPr>
              <a:spcAft>
                <a:spcPts val="1000"/>
              </a:spcAft>
            </a:pPr>
            <a:r>
              <a:rPr sz="2000">
                <a:solidFill>
                  <a:srgbClr val="161B26"/>
                </a:solidFill>
                <a:latin typeface="Arial"/>
              </a:rPr>
              <a:t>•  Case Study (CS) — applied Lean Six Sigma tasks, 90 minutes, open book.</a:t>
            </a:r>
          </a:p>
          <a:p>
            <a:pPr>
              <a:spcAft>
                <a:spcPts val="1000"/>
              </a:spcAft>
            </a:pPr>
            <a:r>
              <a:rPr sz="2000">
                <a:solidFill>
                  <a:srgbClr val="161B26"/>
                </a:solidFill>
                <a:latin typeface="Arial"/>
              </a:rPr>
              <a:t>•  Format: Open Book — slides, Learner Guide and approved materials only.</a:t>
            </a:r>
          </a:p>
          <a:p>
            <a:pPr>
              <a:spcAft>
                <a:spcPts val="1000"/>
              </a:spcAft>
            </a:pPr>
            <a:r>
              <a:rPr sz="2000">
                <a:solidFill>
                  <a:srgbClr val="161B26"/>
                </a:solidFill>
                <a:latin typeface="Arial"/>
              </a:rPr>
              <a:t>•  A minimum of 75% attendance is required to be eligible for assessment and funding.</a:t>
            </a:r>
          </a:p>
          <a:p>
            <a:pPr>
              <a:spcAft>
                <a:spcPts val="1000"/>
              </a:spcAft>
            </a:pPr>
            <a:r>
              <a:rPr sz="2000">
                <a:solidFill>
                  <a:srgbClr val="161B26"/>
                </a:solidFill>
                <a:latin typeface="Arial"/>
              </a:rPr>
              <a:t>•  An appeal process is available if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KEY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Quality in a Nutshell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requirements</a:t>
            </a:r>
          </a:p>
          <a:p>
            <a:pPr algn="l">
              <a:spcAft>
                <a:spcPts val="300"/>
              </a:spcAft>
            </a:pPr>
            <a:r>
              <a:rPr sz="1200" b="0">
                <a:solidFill>
                  <a:srgbClr val="5B6372"/>
                </a:solidFill>
                <a:latin typeface="Arial"/>
              </a:rPr>
              <a:t>Find out what the customer actually needs — in their own words.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Design to satisfy them</a:t>
            </a:r>
          </a:p>
          <a:p>
            <a:pPr algn="l">
              <a:spcAft>
                <a:spcPts val="300"/>
              </a:spcAft>
            </a:pPr>
            <a:r>
              <a:rPr sz="1200" b="0">
                <a:solidFill>
                  <a:srgbClr val="5B6372"/>
                </a:solidFill>
                <a:latin typeface="Arial"/>
              </a:rPr>
              <a:t>Build the product or service so it meets those requirements.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Deliver consistently</a:t>
            </a:r>
          </a:p>
          <a:p>
            <a:pPr algn="l">
              <a:spcAft>
                <a:spcPts val="300"/>
              </a:spcAft>
            </a:pPr>
            <a:r>
              <a:rPr sz="1200" b="0">
                <a:solidFill>
                  <a:srgbClr val="5B6372"/>
                </a:solidFill>
                <a:latin typeface="Arial"/>
              </a:rPr>
              <a:t>Reduce variation so every customer gets the same experience.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Improve continuously</a:t>
            </a:r>
          </a:p>
          <a:p>
            <a:pPr algn="l">
              <a:spcAft>
                <a:spcPts val="300"/>
              </a:spcAft>
            </a:pPr>
            <a:r>
              <a:rPr sz="1200" b="0">
                <a:solidFill>
                  <a:srgbClr val="5B6372"/>
                </a:solidFill>
                <a:latin typeface="Arial"/>
              </a:rPr>
              <a:t>Requirements move; the process has to keep up.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Waste walks, process mapping, 5S and small Kaizen improvements.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Data collection, Pareto and run charts, root cause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STATISTICAL MEANING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as Standard Deviation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Sigma (σ) measures spread. The more sigmas that fit between the process mean and the specification limits, the less likely the process is to produce a defect.</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Level vs Defects per Million Opportunities</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1σ</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a:p>
            <a:pPr algn="ctr">
              <a:spcAft>
                <a:spcPts val="400"/>
              </a:spcAft>
            </a:pPr>
            <a:r>
              <a:rPr sz="1100" b="0">
                <a:solidFill>
                  <a:srgbClr val="5B6372"/>
                </a:solidFill>
                <a:latin typeface="Arial"/>
              </a:rPr>
              <a:t>31% yield</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2σ</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a:p>
            <a:pPr algn="ctr">
              <a:spcAft>
                <a:spcPts val="400"/>
              </a:spcAft>
            </a:pPr>
            <a:r>
              <a:rPr sz="1100" b="0">
                <a:solidFill>
                  <a:srgbClr val="5B6372"/>
                </a:solidFill>
                <a:latin typeface="Arial"/>
              </a:rPr>
              <a:t>69% yield</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3σ</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a:p>
            <a:pPr algn="ctr">
              <a:spcAft>
                <a:spcPts val="400"/>
              </a:spcAft>
            </a:pPr>
            <a:r>
              <a:rPr sz="1100" b="0">
                <a:solidFill>
                  <a:srgbClr val="5B6372"/>
                </a:solidFill>
                <a:latin typeface="Arial"/>
              </a:rPr>
              <a:t>93.3% yield</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4σ</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a:p>
            <a:pPr algn="ctr">
              <a:spcAft>
                <a:spcPts val="400"/>
              </a:spcAft>
            </a:pPr>
            <a:r>
              <a:rPr sz="1100" b="0">
                <a:solidFill>
                  <a:srgbClr val="5B6372"/>
                </a:solidFill>
                <a:latin typeface="Arial"/>
              </a:rPr>
              <a:t>99.38% yield</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5σ</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a:p>
            <a:pPr algn="ctr">
              <a:spcAft>
                <a:spcPts val="400"/>
              </a:spcAft>
            </a:pPr>
            <a:r>
              <a:rPr sz="1100" b="0">
                <a:solidFill>
                  <a:srgbClr val="5B6372"/>
                </a:solidFill>
                <a:latin typeface="Arial"/>
              </a:rPr>
              <a:t>99.977% yield</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6σ</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a:p>
            <a:pPr algn="ctr">
              <a:spcAft>
                <a:spcPts val="400"/>
              </a:spcAft>
            </a:pPr>
            <a:r>
              <a:rPr sz="1100" b="0">
                <a:solidFill>
                  <a:srgbClr val="5B6372"/>
                </a:solidFill>
                <a:latin typeface="Arial"/>
              </a:rPr>
              <a:t>99.99966% yield</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sigma level is a step change, not an increment — moving 3σ → 4σ removes about 90% of the defects.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COST OF 'GOOD ENOUGH'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99% Is Not Good Enough</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99% quality</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99.99966%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At 99% quality (about 3.8σ)</a:t>
            </a:r>
          </a:p>
          <a:p>
            <a:pPr>
              <a:spcAft>
                <a:spcPts val="1000"/>
              </a:spcAft>
            </a:pPr>
            <a:r>
              <a:rPr sz="1300">
                <a:solidFill>
                  <a:srgbClr val="5B6372"/>
                </a:solidFill>
                <a:latin typeface="Arial"/>
              </a:rPr>
              <a:t>–  20,000 lost articles of mail per hour</a:t>
            </a:r>
          </a:p>
          <a:p>
            <a:pPr>
              <a:spcAft>
                <a:spcPts val="1000"/>
              </a:spcAft>
            </a:pPr>
            <a:r>
              <a:rPr sz="1300">
                <a:solidFill>
                  <a:srgbClr val="5B6372"/>
                </a:solidFill>
                <a:latin typeface="Arial"/>
              </a:rPr>
              <a:t>–  Unsafe drinking water almost 15 minutes a day</a:t>
            </a:r>
          </a:p>
          <a:p>
            <a:pPr>
              <a:spcAft>
                <a:spcPts val="1000"/>
              </a:spcAft>
            </a:pPr>
            <a:r>
              <a:rPr sz="1300">
                <a:solidFill>
                  <a:srgbClr val="5B6372"/>
                </a:solidFill>
                <a:latin typeface="Arial"/>
              </a:rPr>
              <a:t>–  5,000 incorrect surgical operations per week</a:t>
            </a:r>
          </a:p>
          <a:p>
            <a:pPr>
              <a:spcAft>
                <a:spcPts val="1000"/>
              </a:spcAft>
            </a:pPr>
            <a:r>
              <a:rPr sz="1300">
                <a:solidFill>
                  <a:srgbClr val="5B6372"/>
                </a:solidFill>
                <a:latin typeface="Arial"/>
              </a:rPr>
              <a:t>–  Two short or long landings at major airports daily</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At Six Sigma quality (3.4 DPMO)</a:t>
            </a:r>
          </a:p>
          <a:p>
            <a:pPr>
              <a:spcAft>
                <a:spcPts val="1000"/>
              </a:spcAft>
            </a:pPr>
            <a:r>
              <a:rPr sz="1300">
                <a:solidFill>
                  <a:srgbClr val="5B6372"/>
                </a:solidFill>
                <a:latin typeface="Arial"/>
              </a:rPr>
              <a:t>–  7 lost articles of mail per hour</a:t>
            </a:r>
          </a:p>
          <a:p>
            <a:pPr>
              <a:spcAft>
                <a:spcPts val="1000"/>
              </a:spcAft>
            </a:pPr>
            <a:r>
              <a:rPr sz="1300">
                <a:solidFill>
                  <a:srgbClr val="5B6372"/>
                </a:solidFill>
                <a:latin typeface="Arial"/>
              </a:rPr>
              <a:t>–  Unsafe drinking water 1 minute every 7 months</a:t>
            </a:r>
          </a:p>
          <a:p>
            <a:pPr>
              <a:spcAft>
                <a:spcPts val="1000"/>
              </a:spcAft>
            </a:pPr>
            <a:r>
              <a:rPr sz="1300">
                <a:solidFill>
                  <a:srgbClr val="5B6372"/>
                </a:solidFill>
                <a:latin typeface="Arial"/>
              </a:rPr>
              <a:t>–  1.7 incorrect surgical operations per week</a:t>
            </a:r>
          </a:p>
          <a:p>
            <a:pPr>
              <a:spcAft>
                <a:spcPts val="1000"/>
              </a:spcAft>
            </a:pPr>
            <a:r>
              <a:rPr sz="1300">
                <a:solidFill>
                  <a:srgbClr val="5B6372"/>
                </a:solidFill>
                <a:latin typeface="Arial"/>
              </a:rPr>
              <a:t>–  One short or long landing every 5 years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Short History of Lean Six Sigma</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1950s</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Toyota Production System — Lean is born</a:t>
            </a:r>
          </a:p>
        </p:txBody>
      </p:sp>
      <p:sp>
        <p:nvSpPr>
          <p:cNvPr id="12" name="Oval 11"/>
          <p:cNvSpPr/>
          <p:nvPr/>
        </p:nvSpPr>
        <p:spPr>
          <a:xfrm>
            <a:off x="3769614"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55798"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55798"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7238"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1986</a:t>
            </a:r>
          </a:p>
        </p:txBody>
      </p:sp>
      <p:sp>
        <p:nvSpPr>
          <p:cNvPr id="16" name="TextBox 15"/>
          <p:cNvSpPr txBox="1"/>
          <p:nvPr/>
        </p:nvSpPr>
        <p:spPr>
          <a:xfrm>
            <a:off x="3019806"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Motorola coins Six Sigma</a:t>
            </a:r>
          </a:p>
        </p:txBody>
      </p:sp>
      <p:sp>
        <p:nvSpPr>
          <p:cNvPr id="17" name="Oval 16"/>
          <p:cNvSpPr/>
          <p:nvPr/>
        </p:nvSpPr>
        <p:spPr>
          <a:xfrm>
            <a:off x="5948172"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4356"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34356"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5796"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1995</a:t>
            </a:r>
          </a:p>
        </p:txBody>
      </p:sp>
      <p:sp>
        <p:nvSpPr>
          <p:cNvPr id="21" name="TextBox 20"/>
          <p:cNvSpPr txBox="1"/>
          <p:nvPr/>
        </p:nvSpPr>
        <p:spPr>
          <a:xfrm>
            <a:off x="5198364"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GE adopts Six Sigma company-wide</a:t>
            </a:r>
          </a:p>
        </p:txBody>
      </p:sp>
      <p:sp>
        <p:nvSpPr>
          <p:cNvPr id="22" name="Oval 21"/>
          <p:cNvSpPr/>
          <p:nvPr/>
        </p:nvSpPr>
        <p:spPr>
          <a:xfrm>
            <a:off x="8126730"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2914"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2914"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04354"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2000s</a:t>
            </a:r>
          </a:p>
        </p:txBody>
      </p:sp>
      <p:sp>
        <p:nvSpPr>
          <p:cNvPr id="26" name="TextBox 25"/>
          <p:cNvSpPr txBox="1"/>
          <p:nvPr/>
        </p:nvSpPr>
        <p:spPr>
          <a:xfrm>
            <a:off x="7376922"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merge</a:t>
            </a:r>
          </a:p>
        </p:txBody>
      </p:sp>
      <p:sp>
        <p:nvSpPr>
          <p:cNvPr id="27" name="Oval 26"/>
          <p:cNvSpPr/>
          <p:nvPr/>
        </p:nvSpPr>
        <p:spPr>
          <a:xfrm>
            <a:off x="10305288"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9147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491472"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582912"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Today</a:t>
            </a:r>
          </a:p>
        </p:txBody>
      </p:sp>
      <p:sp>
        <p:nvSpPr>
          <p:cNvPr id="31" name="TextBox 30"/>
          <p:cNvSpPr txBox="1"/>
          <p:nvPr/>
        </p:nvSpPr>
        <p:spPr>
          <a:xfrm>
            <a:off x="955548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 healthcare, finance and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output Y is a function of the process inputs X. To change the result, change the inputs that drive it — not the result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OUR COURSE SCENARIO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in Practice — The Contoso Service Desk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Y — the output</a:t>
            </a:r>
          </a:p>
          <a:p>
            <a:pPr algn="l">
              <a:spcAft>
                <a:spcPts val="300"/>
              </a:spcAft>
            </a:pPr>
            <a:r>
              <a:rPr sz="1100" b="0">
                <a:solidFill>
                  <a:srgbClr val="5B6372"/>
                </a:solidFill>
                <a:latin typeface="Arial"/>
              </a:rPr>
              <a:t>Ticket assignment time, measured in hours from submission to assignment.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triage rules</a:t>
            </a:r>
          </a:p>
          <a:p>
            <a:pPr algn="l">
              <a:spcAft>
                <a:spcPts val="300"/>
              </a:spcAft>
            </a:pPr>
            <a:r>
              <a:rPr sz="1100" b="0">
                <a:solidFill>
                  <a:srgbClr val="5B6372"/>
                </a:solidFill>
                <a:latin typeface="Arial"/>
              </a:rPr>
              <a:t>How clearly the routing rules are written and understood.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staffing</a:t>
            </a:r>
          </a:p>
          <a:p>
            <a:pPr algn="l">
              <a:spcAft>
                <a:spcPts val="300"/>
              </a:spcAft>
            </a:pPr>
            <a:r>
              <a:rPr sz="1100" b="0">
                <a:solidFill>
                  <a:srgbClr val="5B6372"/>
                </a:solidFill>
                <a:latin typeface="Arial"/>
              </a:rPr>
              <a:t>How many agents are available at peak submission times.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ticket quality</a:t>
            </a:r>
          </a:p>
          <a:p>
            <a:pPr algn="l">
              <a:spcAft>
                <a:spcPts val="300"/>
              </a:spcAft>
            </a:pPr>
            <a:r>
              <a:rPr sz="1100" b="0">
                <a:solidFill>
                  <a:srgbClr val="5B6372"/>
                </a:solidFill>
                <a:latin typeface="Arial"/>
              </a:rPr>
              <a:t>How complete the information is when the ticket arrives.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Yellow Belt — the level that supports projects and runs small improvements.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LSS YELLOW BELT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Role — the Lean Six Sigma Yellow Belt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Has basic knowledge</a:t>
            </a:r>
          </a:p>
          <a:p>
            <a:pPr algn="l">
              <a:spcAft>
                <a:spcPts val="300"/>
              </a:spcAft>
            </a:pPr>
            <a:r>
              <a:rPr sz="1100" b="0">
                <a:solidFill>
                  <a:srgbClr val="5B6372"/>
                </a:solidFill>
                <a:latin typeface="Arial"/>
              </a:rPr>
              <a:t>Understands the DMAIC roadmap and the 7 basic quality tools.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Supports the project</a:t>
            </a:r>
          </a:p>
          <a:p>
            <a:pPr algn="l">
              <a:spcAft>
                <a:spcPts val="300"/>
              </a:spcAft>
            </a:pPr>
            <a:r>
              <a:rPr sz="1100" b="0">
                <a:solidFill>
                  <a:srgbClr val="5B6372"/>
                </a:solidFill>
                <a:latin typeface="Arial"/>
              </a:rPr>
              <a:t>Contributes process knowledge as the subject-matter expert.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Collects the data</a:t>
            </a:r>
          </a:p>
          <a:p>
            <a:pPr algn="l">
              <a:spcAft>
                <a:spcPts val="300"/>
              </a:spcAft>
            </a:pPr>
            <a:r>
              <a:rPr sz="1100" b="0">
                <a:solidFill>
                  <a:srgbClr val="5B6372"/>
                </a:solidFill>
                <a:latin typeface="Arial"/>
              </a:rPr>
              <a:t>Runs check sheets and data collection under the project leader.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Maps the process</a:t>
            </a:r>
          </a:p>
          <a:p>
            <a:pPr algn="l">
              <a:spcAft>
                <a:spcPts val="300"/>
              </a:spcAft>
            </a:pPr>
            <a:r>
              <a:rPr sz="1100" b="0">
                <a:solidFill>
                  <a:srgbClr val="5B6372"/>
                </a:solidFill>
                <a:latin typeface="Arial"/>
              </a:rPr>
              <a:t>Builds SIPOC and process maps that expose handoffs and waste.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Runs small improvements</a:t>
            </a:r>
          </a:p>
          <a:p>
            <a:pPr algn="l">
              <a:spcAft>
                <a:spcPts val="300"/>
              </a:spcAft>
            </a:pPr>
            <a:r>
              <a:rPr sz="1100" b="0">
                <a:solidFill>
                  <a:srgbClr val="5B6372"/>
                </a:solidFill>
                <a:latin typeface="Arial"/>
              </a:rPr>
              <a:t>Leads Kaizen or PDCA improvements within their own work area.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Does not lead DMAIC</a:t>
            </a:r>
          </a:p>
          <a:p>
            <a:pPr algn="l">
              <a:spcAft>
                <a:spcPts val="300"/>
              </a:spcAft>
            </a:pPr>
            <a:r>
              <a:rPr sz="1100" b="0">
                <a:solidFill>
                  <a:srgbClr val="5B6372"/>
                </a:solidFill>
                <a:latin typeface="Arial"/>
              </a:rPr>
              <a:t>Larger, cross-functional DMAIC projects belong to a Green or Black Belt.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and run charts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Prove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vs PDCA — Which One Do I 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Small improvement</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Full project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PDCA — Plan, Do, Check, Act</a:t>
            </a:r>
          </a:p>
          <a:p>
            <a:pPr>
              <a:spcAft>
                <a:spcPts val="1000"/>
              </a:spcAft>
            </a:pPr>
            <a:r>
              <a:rPr sz="1300">
                <a:solidFill>
                  <a:srgbClr val="5B6372"/>
                </a:solidFill>
                <a:latin typeface="Arial"/>
              </a:rPr>
              <a:t>–  For small, local, fast improvements</a:t>
            </a:r>
          </a:p>
          <a:p>
            <a:pPr>
              <a:spcAft>
                <a:spcPts val="1000"/>
              </a:spcAft>
            </a:pPr>
            <a:r>
              <a:rPr sz="1300">
                <a:solidFill>
                  <a:srgbClr val="5B6372"/>
                </a:solidFill>
                <a:latin typeface="Arial"/>
              </a:rPr>
              <a:t>–  Days to a few weeks</a:t>
            </a:r>
          </a:p>
          <a:p>
            <a:pPr>
              <a:spcAft>
                <a:spcPts val="1000"/>
              </a:spcAft>
            </a:pPr>
            <a:r>
              <a:rPr sz="1300">
                <a:solidFill>
                  <a:srgbClr val="5B6372"/>
                </a:solidFill>
                <a:latin typeface="Arial"/>
              </a:rPr>
              <a:t>–  A Yellow Belt can run this</a:t>
            </a:r>
          </a:p>
          <a:p>
            <a:pPr>
              <a:spcAft>
                <a:spcPts val="1000"/>
              </a:spcAft>
            </a:pPr>
            <a:r>
              <a:rPr sz="1300">
                <a:solidFill>
                  <a:srgbClr val="5B6372"/>
                </a:solidFill>
                <a:latin typeface="Arial"/>
              </a:rPr>
              <a:t>–  Lower data requirement</a:t>
            </a:r>
          </a:p>
          <a:p>
            <a:pPr>
              <a:spcAft>
                <a:spcPts val="1000"/>
              </a:spcAft>
            </a:pPr>
            <a:r>
              <a:rPr sz="1300">
                <a:solidFill>
                  <a:srgbClr val="5B6372"/>
                </a:solidFill>
                <a:latin typeface="Arial"/>
              </a:rPr>
              <a:t>–  Used in Lab 4</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DMAIC — the full roadmap</a:t>
            </a:r>
          </a:p>
          <a:p>
            <a:pPr>
              <a:spcAft>
                <a:spcPts val="1000"/>
              </a:spcAft>
            </a:pPr>
            <a:r>
              <a:rPr sz="1300">
                <a:solidFill>
                  <a:srgbClr val="5B6372"/>
                </a:solidFill>
                <a:latin typeface="Arial"/>
              </a:rPr>
              <a:t>–  For larger, cross-functional problems</a:t>
            </a:r>
          </a:p>
          <a:p>
            <a:pPr>
              <a:spcAft>
                <a:spcPts val="1000"/>
              </a:spcAft>
            </a:pPr>
            <a:r>
              <a:rPr sz="1300">
                <a:solidFill>
                  <a:srgbClr val="5B6372"/>
                </a:solidFill>
                <a:latin typeface="Arial"/>
              </a:rPr>
              <a:t>–  Weeks to months</a:t>
            </a:r>
          </a:p>
          <a:p>
            <a:pPr>
              <a:spcAft>
                <a:spcPts val="1000"/>
              </a:spcAft>
            </a:pPr>
            <a:r>
              <a:rPr sz="1300">
                <a:solidFill>
                  <a:srgbClr val="5B6372"/>
                </a:solidFill>
                <a:latin typeface="Arial"/>
              </a:rPr>
              <a:t>–  Led by a Green or Black Belt</a:t>
            </a:r>
          </a:p>
          <a:p>
            <a:pPr>
              <a:spcAft>
                <a:spcPts val="1000"/>
              </a:spcAft>
            </a:pPr>
            <a:r>
              <a:rPr sz="1300">
                <a:solidFill>
                  <a:srgbClr val="5B6372"/>
                </a:solidFill>
                <a:latin typeface="Arial"/>
              </a:rPr>
              <a:t>–  Data and statistics required</a:t>
            </a:r>
          </a:p>
          <a:p>
            <a:pPr>
              <a:spcAft>
                <a:spcPts val="1000"/>
              </a:spcAft>
            </a:pPr>
            <a:r>
              <a:rPr sz="1300">
                <a:solidFill>
                  <a:srgbClr val="5B6372"/>
                </a:solidFill>
                <a:latin typeface="Arial"/>
              </a:rPr>
              <a:t>–  Supported by you from Lab 5 onward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PDCA CYCLE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PDCA — The Small Improvement Cycle</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PLAN — define the problem and plan the change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DO — run the change at small scale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CHECK — measure whether it actually worked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ACT — adopt, adapt or abandon, then repeat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PROJECT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Yellow Belt Project?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Related to your daily work</a:t>
            </a:r>
          </a:p>
          <a:p>
            <a:pPr algn="l">
              <a:spcAft>
                <a:spcPts val="300"/>
              </a:spcAft>
            </a:pPr>
            <a:r>
              <a:rPr sz="1200" b="0">
                <a:solidFill>
                  <a:srgbClr val="5B6372"/>
                </a:solidFill>
                <a:latin typeface="Arial"/>
              </a:rPr>
              <a:t>You know the process and can observe it directly.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Manageable in timeframe</a:t>
            </a:r>
          </a:p>
          <a:p>
            <a:pPr algn="l">
              <a:spcAft>
                <a:spcPts val="300"/>
              </a:spcAft>
            </a:pPr>
            <a:r>
              <a:rPr sz="1200" b="0">
                <a:solidFill>
                  <a:srgbClr val="5B6372"/>
                </a:solidFill>
                <a:latin typeface="Arial"/>
              </a:rPr>
              <a:t>Can be completed in weeks, not months.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Aligned to business goals</a:t>
            </a:r>
          </a:p>
          <a:p>
            <a:pPr algn="l">
              <a:spcAft>
                <a:spcPts val="300"/>
              </a:spcAft>
            </a:pPr>
            <a:r>
              <a:rPr sz="1200" b="0">
                <a:solidFill>
                  <a:srgbClr val="5B6372"/>
                </a:solidFill>
                <a:latin typeface="Arial"/>
              </a:rPr>
              <a:t>Someone in management cares about the result.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 is available</a:t>
            </a:r>
          </a:p>
          <a:p>
            <a:pPr algn="l">
              <a:spcAft>
                <a:spcPts val="300"/>
              </a:spcAft>
            </a:pPr>
            <a:r>
              <a:rPr sz="1200" b="0">
                <a:solidFill>
                  <a:srgbClr val="5B6372"/>
                </a:solidFill>
                <a:latin typeface="Arial"/>
              </a:rPr>
              <a:t>You can measure the baseline and the improvement.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Belt role matrix, CSSC certification pathway, project selection criteria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Yellow Belt role — list at least four responsibilities and your contribution to each.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the White, Yellow, Green, Black and Master Black Belt pathways in a 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Review the Contoso Service Desk scenario: tickets are slow to be assigned and status is unclear.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your scenario against the 'good project' criteria — day-to-day work, manageable, aligned to business goals, data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Record why a Yellow Belt supports rather than leads this improvement.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Capture customer needs in their own words before deciding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Translate each VOC need into a specific, measurable CTQ requirement.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Problem statement, goal, scope, team and benefit — the project's contract.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Process, time period, measurable issue and impact — and never a solution.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The macro as-is map: Suppliers, Inputs, Process, Outputs, Customers.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Flowcharts and swimlanes expose the handoffs where delay and defects are born.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tickets</a:t>
            </a:r>
          </a:p>
          <a:p>
            <a:pPr algn="l">
              <a:spcAft>
                <a:spcPts val="300"/>
              </a:spcAft>
            </a:pPr>
            <a:r>
              <a:rPr sz="1200" b="0">
                <a:solidFill>
                  <a:srgbClr val="5B6372"/>
                </a:solidFill>
                <a:latin typeface="Arial"/>
              </a:rPr>
              <a:t>Already in your system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where my ticket is"</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Status update within 4 working hours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Yellow Belt support and SMEs.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service desk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Jan and 31 Mar, tickets took an average of 9.4 working hours to be assigned against a 4-hour target, affecting 38% of employees and generating 210 chase-up contacts."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PROBLEM STATEMENT ANATOMY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Components of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specific process and the defect or gap observed.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The time period the data covers.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The measured baseline against the requirement.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So what</a:t>
            </a:r>
          </a:p>
          <a:p>
            <a:pPr algn="l">
              <a:spcAft>
                <a:spcPts val="300"/>
              </a:spcAft>
            </a:pPr>
            <a:r>
              <a:rPr sz="1200" b="0">
                <a:solidFill>
                  <a:srgbClr val="5B6372"/>
                </a:solidFill>
                <a:latin typeface="Arial"/>
              </a:rPr>
              <a:t>The impact on the customer and the business.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Contoso Service Desk Ticket Assignment</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Employees</a:t>
            </a:r>
          </a:p>
          <a:p>
            <a:pPr>
              <a:spcAft>
                <a:spcPts val="700"/>
              </a:spcAft>
            </a:pPr>
            <a:r>
              <a:rPr sz="1200">
                <a:solidFill>
                  <a:srgbClr val="161B26"/>
                </a:solidFill>
                <a:latin typeface="Arial"/>
              </a:rPr>
              <a:t>•  Line managers</a:t>
            </a:r>
          </a:p>
          <a:p>
            <a:pPr>
              <a:spcAft>
                <a:spcPts val="700"/>
              </a:spcAft>
            </a:pPr>
            <a:r>
              <a:rPr sz="1200">
                <a:solidFill>
                  <a:srgbClr val="161B26"/>
                </a:solidFill>
                <a:latin typeface="Arial"/>
              </a:rPr>
              <a:t>•  HR onboarding</a:t>
            </a:r>
          </a:p>
          <a:p>
            <a:pPr>
              <a:spcAft>
                <a:spcPts val="700"/>
              </a:spcAft>
            </a:pPr>
            <a:r>
              <a:rPr sz="1200">
                <a:solidFill>
                  <a:srgbClr val="161B26"/>
                </a:solidFill>
                <a:latin typeface="Arial"/>
              </a:rPr>
              <a:t>•  Monitoring tools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Ticket form</a:t>
            </a:r>
          </a:p>
          <a:p>
            <a:pPr>
              <a:spcAft>
                <a:spcPts val="700"/>
              </a:spcAft>
            </a:pPr>
            <a:r>
              <a:rPr sz="1200">
                <a:solidFill>
                  <a:srgbClr val="161B26"/>
                </a:solidFill>
                <a:latin typeface="Arial"/>
              </a:rPr>
              <a:t>•  Category</a:t>
            </a:r>
          </a:p>
          <a:p>
            <a:pPr>
              <a:spcAft>
                <a:spcPts val="700"/>
              </a:spcAft>
            </a:pPr>
            <a:r>
              <a:rPr sz="1200">
                <a:solidFill>
                  <a:srgbClr val="161B26"/>
                </a:solidFill>
                <a:latin typeface="Arial"/>
              </a:rPr>
              <a:t>•  Priority</a:t>
            </a:r>
          </a:p>
          <a:p>
            <a:pPr>
              <a:spcAft>
                <a:spcPts val="700"/>
              </a:spcAft>
            </a:pPr>
            <a:r>
              <a:rPr sz="1200">
                <a:solidFill>
                  <a:srgbClr val="161B26"/>
                </a:solidFill>
                <a:latin typeface="Arial"/>
              </a:rPr>
              <a:t>•  Asset details</a:t>
            </a:r>
          </a:p>
          <a:p>
            <a:pPr>
              <a:spcAft>
                <a:spcPts val="700"/>
              </a:spcAft>
            </a:pPr>
            <a:r>
              <a:rPr sz="1200">
                <a:solidFill>
                  <a:srgbClr val="161B26"/>
                </a:solidFill>
                <a:latin typeface="Arial"/>
              </a:rPr>
              <a:t>•  Contact info</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Ticket submitted</a:t>
            </a:r>
          </a:p>
          <a:p>
            <a:pPr>
              <a:spcAft>
                <a:spcPts val="700"/>
              </a:spcAft>
            </a:pPr>
            <a:r>
              <a:rPr sz="1200">
                <a:solidFill>
                  <a:srgbClr val="161B26"/>
                </a:solidFill>
                <a:latin typeface="Arial"/>
              </a:rPr>
              <a:t>•  2. Auto-categorised</a:t>
            </a:r>
          </a:p>
          <a:p>
            <a:pPr>
              <a:spcAft>
                <a:spcPts val="700"/>
              </a:spcAft>
            </a:pPr>
            <a:r>
              <a:rPr sz="1200">
                <a:solidFill>
                  <a:srgbClr val="161B26"/>
                </a:solidFill>
                <a:latin typeface="Arial"/>
              </a:rPr>
              <a:t>•  3. Triage review</a:t>
            </a:r>
          </a:p>
          <a:p>
            <a:pPr>
              <a:spcAft>
                <a:spcPts val="700"/>
              </a:spcAft>
            </a:pPr>
            <a:r>
              <a:rPr sz="1200">
                <a:solidFill>
                  <a:srgbClr val="161B26"/>
                </a:solidFill>
                <a:latin typeface="Arial"/>
              </a:rPr>
              <a:t>•  4. Assigned to agent</a:t>
            </a:r>
          </a:p>
          <a:p>
            <a:pPr>
              <a:spcAft>
                <a:spcPts val="700"/>
              </a:spcAft>
            </a:pPr>
            <a:r>
              <a:rPr sz="1200">
                <a:solidFill>
                  <a:srgbClr val="161B26"/>
                </a:solidFill>
                <a:latin typeface="Arial"/>
              </a:rPr>
              <a:t>•  5. Agent acknowledges</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Assigned ticket</a:t>
            </a:r>
          </a:p>
          <a:p>
            <a:pPr>
              <a:spcAft>
                <a:spcPts val="700"/>
              </a:spcAft>
            </a:pPr>
            <a:r>
              <a:rPr sz="1200">
                <a:solidFill>
                  <a:srgbClr val="161B26"/>
                </a:solidFill>
                <a:latin typeface="Arial"/>
              </a:rPr>
              <a:t>•  Assignment notification</a:t>
            </a:r>
          </a:p>
          <a:p>
            <a:pPr>
              <a:spcAft>
                <a:spcPts val="700"/>
              </a:spcAft>
            </a:pPr>
            <a:r>
              <a:rPr sz="1200">
                <a:solidFill>
                  <a:srgbClr val="161B26"/>
                </a:solidFill>
                <a:latin typeface="Arial"/>
              </a:rPr>
              <a:t>•  Priority classification</a:t>
            </a:r>
          </a:p>
          <a:p>
            <a:pPr>
              <a:spcAft>
                <a:spcPts val="700"/>
              </a:spcAft>
            </a:pPr>
            <a:r>
              <a:rPr sz="1200">
                <a:solidFill>
                  <a:srgbClr val="161B26"/>
                </a:solidFill>
                <a:latin typeface="Arial"/>
              </a:rPr>
              <a:t>•  SLA clock started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a:t>
            </a:r>
          </a:p>
          <a:p>
            <a:pPr>
              <a:spcAft>
                <a:spcPts val="700"/>
              </a:spcAft>
            </a:pPr>
            <a:r>
              <a:rPr sz="1200">
                <a:solidFill>
                  <a:srgbClr val="161B26"/>
                </a:solidFill>
                <a:latin typeface="Arial"/>
              </a:rPr>
              <a:t>•  Support agent</a:t>
            </a:r>
          </a:p>
          <a:p>
            <a:pPr>
              <a:spcAft>
                <a:spcPts val="700"/>
              </a:spcAft>
            </a:pPr>
            <a:r>
              <a:rPr sz="1200">
                <a:solidFill>
                  <a:srgbClr val="161B26"/>
                </a:solidFill>
                <a:latin typeface="Arial"/>
              </a:rPr>
              <a:t>•  Service desk manager</a:t>
            </a:r>
          </a:p>
          <a:p>
            <a:pPr>
              <a:spcAft>
                <a:spcPts val="700"/>
              </a:spcAft>
            </a:pPr>
            <a:r>
              <a:rPr sz="1200">
                <a:solidFill>
                  <a:srgbClr val="161B26"/>
                </a:solidFill>
                <a:latin typeface="Arial"/>
              </a:rPr>
              <a:t>•  IT leadership</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SIPOC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and agree its start and stop points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high-level steps — 5 to 7, no more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outputs and who receives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inputs each step needs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who supplies each input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PROCESS MAPPING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Process Maps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Shows the real process</a:t>
            </a:r>
          </a:p>
          <a:p>
            <a:pPr algn="l">
              <a:spcAft>
                <a:spcPts val="300"/>
              </a:spcAft>
            </a:pPr>
            <a:r>
              <a:rPr sz="1100" b="0">
                <a:solidFill>
                  <a:srgbClr val="5B6372"/>
                </a:solidFill>
                <a:latin typeface="Arial"/>
              </a:rPr>
              <a:t>Not the process in the procedure manual — the one people actually follow.</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Exposes handoffs</a:t>
            </a:r>
          </a:p>
          <a:p>
            <a:pPr algn="l">
              <a:spcAft>
                <a:spcPts val="300"/>
              </a:spcAft>
            </a:pPr>
            <a:r>
              <a:rPr sz="1100" b="0">
                <a:solidFill>
                  <a:srgbClr val="5B6372"/>
                </a:solidFill>
                <a:latin typeface="Arial"/>
              </a:rPr>
              <a:t>Delay and defects are usually created where work changes hands.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Builds shared understanding</a:t>
            </a:r>
          </a:p>
          <a:p>
            <a:pPr algn="l">
              <a:spcAft>
                <a:spcPts val="300"/>
              </a:spcAft>
            </a:pPr>
            <a:r>
              <a:rPr sz="1100" b="0">
                <a:solidFill>
                  <a:srgbClr val="5B6372"/>
                </a:solidFill>
                <a:latin typeface="Arial"/>
              </a:rPr>
              <a:t>The team often discovers they each believed a different process.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Finds the waste</a:t>
            </a:r>
          </a:p>
          <a:p>
            <a:pPr algn="l">
              <a:spcAft>
                <a:spcPts val="300"/>
              </a:spcAft>
            </a:pPr>
            <a:r>
              <a:rPr sz="1100" b="0">
                <a:solidFill>
                  <a:srgbClr val="5B6372"/>
                </a:solidFill>
                <a:latin typeface="Arial"/>
              </a:rPr>
              <a:t>Rework loops, waiting and duplicated approvals become visible.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Sets the baseline</a:t>
            </a:r>
          </a:p>
          <a:p>
            <a:pPr algn="l">
              <a:spcAft>
                <a:spcPts val="300"/>
              </a:spcAft>
            </a:pPr>
            <a:r>
              <a:rPr sz="1100" b="0">
                <a:solidFill>
                  <a:srgbClr val="5B6372"/>
                </a:solidFill>
                <a:latin typeface="Arial"/>
              </a:rPr>
              <a:t>You cannot improve a process you have not described.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Guides data collection</a:t>
            </a:r>
          </a:p>
          <a:p>
            <a:pPr algn="l">
              <a:spcAft>
                <a:spcPts val="300"/>
              </a:spcAft>
            </a:pPr>
            <a:r>
              <a:rPr sz="1100" b="0">
                <a:solidFill>
                  <a:srgbClr val="5B6372"/>
                </a:solidFill>
                <a:latin typeface="Arial"/>
              </a:rPr>
              <a:t>The map tells you where to put your measurement points.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CHOOSING THE RIGHT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Process Map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SIPOC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Macro / 30,000 feet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5-7 steps on one page.</a:t>
            </a:r>
          </a:p>
          <a:p>
            <a:pPr>
              <a:spcAft>
                <a:spcPts val="700"/>
              </a:spcAft>
            </a:pPr>
            <a:r>
              <a:rPr sz="1200">
                <a:solidFill>
                  <a:srgbClr val="161B26"/>
                </a:solidFill>
                <a:latin typeface="Arial"/>
              </a:rPr>
              <a:t>•  Sets scope and boundaries.</a:t>
            </a:r>
          </a:p>
          <a:p>
            <a:pPr>
              <a:spcAft>
                <a:spcPts val="700"/>
              </a:spcAft>
            </a:pPr>
            <a:r>
              <a:rPr sz="1200">
                <a:solidFill>
                  <a:srgbClr val="161B26"/>
                </a:solidFill>
                <a:latin typeface="Arial"/>
              </a:rPr>
              <a:t>•  Built first, in the Define phase.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Process flowchart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ground level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step, decision and loop.</a:t>
            </a:r>
          </a:p>
          <a:p>
            <a:pPr>
              <a:spcAft>
                <a:spcPts val="700"/>
              </a:spcAft>
            </a:pPr>
            <a:r>
              <a:rPr sz="1200">
                <a:solidFill>
                  <a:srgbClr val="161B26"/>
                </a:solidFill>
                <a:latin typeface="Arial"/>
              </a:rPr>
              <a:t>•  Uses standard symbols.</a:t>
            </a:r>
          </a:p>
          <a:p>
            <a:pPr>
              <a:spcAft>
                <a:spcPts val="700"/>
              </a:spcAft>
            </a:pPr>
            <a:r>
              <a:rPr sz="1200">
                <a:solidFill>
                  <a:srgbClr val="161B26"/>
                </a:solidFill>
                <a:latin typeface="Arial"/>
              </a:rPr>
              <a:t>•  Reveals rework and delay.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Swimlane map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ownership</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lane per actor or team.</a:t>
            </a:r>
          </a:p>
          <a:p>
            <a:pPr>
              <a:spcAft>
                <a:spcPts val="700"/>
              </a:spcAft>
            </a:pPr>
            <a:r>
              <a:rPr sz="1200">
                <a:solidFill>
                  <a:srgbClr val="161B26"/>
                </a:solidFill>
                <a:latin typeface="Arial"/>
              </a:rPr>
              <a:t>•  Handoffs cross the lanes.</a:t>
            </a:r>
          </a:p>
          <a:p>
            <a:pPr>
              <a:spcAft>
                <a:spcPts val="700"/>
              </a:spcAft>
            </a:pPr>
            <a:r>
              <a:rPr sz="1200">
                <a:solidFill>
                  <a:srgbClr val="161B26"/>
                </a:solidFill>
                <a:latin typeface="Arial"/>
              </a:rPr>
              <a:t>•  Best for finding delay in handoffs.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READING A PROCESS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 Symbols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Oval — Terminator</a:t>
            </a:r>
          </a:p>
          <a:p>
            <a:pPr algn="l">
              <a:spcAft>
                <a:spcPts val="300"/>
              </a:spcAft>
            </a:pPr>
            <a:r>
              <a:rPr sz="1100" b="0">
                <a:solidFill>
                  <a:srgbClr val="5B6372"/>
                </a:solidFill>
                <a:latin typeface="Arial"/>
              </a:rPr>
              <a:t>The start or the end of the process.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Rectangle — Process step</a:t>
            </a:r>
          </a:p>
          <a:p>
            <a:pPr algn="l">
              <a:spcAft>
                <a:spcPts val="300"/>
              </a:spcAft>
            </a:pPr>
            <a:r>
              <a:rPr sz="1100" b="0">
                <a:solidFill>
                  <a:srgbClr val="5B6372"/>
                </a:solidFill>
                <a:latin typeface="Arial"/>
              </a:rPr>
              <a:t>An activity or task being performed.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Diamond — Decision</a:t>
            </a:r>
          </a:p>
          <a:p>
            <a:pPr algn="l">
              <a:spcAft>
                <a:spcPts val="300"/>
              </a:spcAft>
            </a:pPr>
            <a:r>
              <a:rPr sz="1100" b="0">
                <a:solidFill>
                  <a:srgbClr val="5B6372"/>
                </a:solidFill>
                <a:latin typeface="Arial"/>
              </a:rPr>
              <a:t>A yes/no branch point in the flow.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Arrow — Flow</a:t>
            </a:r>
          </a:p>
          <a:p>
            <a:pPr algn="l">
              <a:spcAft>
                <a:spcPts val="300"/>
              </a:spcAft>
            </a:pPr>
            <a:r>
              <a:rPr sz="1100" b="0">
                <a:solidFill>
                  <a:srgbClr val="5B6372"/>
                </a:solidFill>
                <a:latin typeface="Arial"/>
              </a:rPr>
              <a:t>The direction work moves between steps.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Parallelogram — Data</a:t>
            </a:r>
          </a:p>
          <a:p>
            <a:pPr algn="l">
              <a:spcAft>
                <a:spcPts val="300"/>
              </a:spcAft>
            </a:pPr>
            <a:r>
              <a:rPr sz="1100" b="0">
                <a:solidFill>
                  <a:srgbClr val="5B6372"/>
                </a:solidFill>
                <a:latin typeface="Arial"/>
              </a:rPr>
              <a:t>An input to, or output from, a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 shape — Delay</a:t>
            </a:r>
          </a:p>
          <a:p>
            <a:pPr algn="l">
              <a:spcAft>
                <a:spcPts val="300"/>
              </a:spcAft>
            </a:pPr>
            <a:r>
              <a:rPr sz="1100" b="0">
                <a:solidFill>
                  <a:srgbClr val="5B6372"/>
                </a:solidFill>
                <a:latin typeface="Arial"/>
              </a:rPr>
              <a:t>Work waiting in a queue — usually where the waste 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YOUR ONLINE TOOL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SIPOC &amp; Process Map Builder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a:t>
            </a:r>
          </a:p>
          <a:p>
            <a:pPr algn="l">
              <a:spcAft>
                <a:spcPts val="300"/>
              </a:spcAft>
            </a:pPr>
            <a:r>
              <a:rPr sz="1000" b="0">
                <a:solidFill>
                  <a:srgbClr val="5B6372"/>
                </a:solidFill>
                <a:latin typeface="Arial"/>
              </a:rPr>
              <a:t>alfredang.github.io/sipoc/ — no install, works in any browser.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Guided order</a:t>
            </a:r>
          </a:p>
          <a:p>
            <a:pPr algn="l">
              <a:spcAft>
                <a:spcPts val="300"/>
              </a:spcAft>
            </a:pPr>
            <a:r>
              <a:rPr sz="1000" b="0">
                <a:solidFill>
                  <a:srgbClr val="5B6372"/>
                </a:solidFill>
                <a:latin typeface="Arial"/>
              </a:rPr>
              <a:t>Enter Process → Outputs → Customers → Inputs → Suppliers, the way the method teaches.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Enforces the rules</a:t>
            </a:r>
          </a:p>
          <a:p>
            <a:pPr algn="l">
              <a:spcAft>
                <a:spcPts val="300"/>
              </a:spcAft>
            </a:pPr>
            <a:r>
              <a:rPr sz="1000" b="0">
                <a:solidFill>
                  <a:srgbClr val="5B6372"/>
                </a:solidFill>
                <a:latin typeface="Arial"/>
              </a:rPr>
              <a:t>Warns if you drift outside 5–7 steps, and tracks your pain-point count.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Tag pain points</a:t>
            </a:r>
          </a:p>
          <a:p>
            <a:pPr algn="l">
              <a:spcAft>
                <a:spcPts val="300"/>
              </a:spcAft>
            </a:pPr>
            <a:r>
              <a:rPr sz="1000" b="0">
                <a:solidFill>
                  <a:srgbClr val="5B6372"/>
                </a:solidFill>
                <a:latin typeface="Arial"/>
              </a:rPr>
              <a:t>Waiting, rework loop, unclear ownership, duplicate entry, missing decision rule.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Swimlane for free</a:t>
            </a:r>
          </a:p>
          <a:p>
            <a:pPr algn="l">
              <a:spcAft>
                <a:spcPts val="300"/>
              </a:spcAft>
            </a:pPr>
            <a:r>
              <a:rPr sz="1000" b="0">
                <a:solidFill>
                  <a:srgbClr val="5B6372"/>
                </a:solidFill>
                <a:latin typeface="Arial"/>
              </a:rPr>
              <a:t>Assign an actor to each step and the swimlane and handoff table build themselves.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Check my SIPOC</a:t>
            </a:r>
          </a:p>
          <a:p>
            <a:pPr algn="l">
              <a:spcAft>
                <a:spcPts val="300"/>
              </a:spcAft>
            </a:pPr>
            <a:r>
              <a:rPr sz="1000" b="0">
                <a:solidFill>
                  <a:srgbClr val="5B6372"/>
                </a:solidFill>
                <a:latin typeface="Arial"/>
              </a:rPr>
              <a:t>Validates the same rules your lab and assessment are marked against.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TOOL WALKTHROUGH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SIPOC Builder in Lab 3</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name, start point and stop point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5–7 process steps, then work outward to O, C, I, 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Tag at least three pain points on the steps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Assign an actor to each step — handoffs appear automatically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'Check my SIPOC', then export the PNG for your package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 — Lean, Six Sigma, Waste, Voice of Customer, and</a:t>
            </a:r>
          </a:p>
          <a:p>
            <a:pPr algn="l">
              <a:spcAft>
                <a:spcPts val="300"/>
              </a:spcAft>
            </a:pPr>
            <a:r>
              <a:rPr sz="1100" b="0">
                <a:solidFill>
                  <a:srgbClr val="5B6372"/>
                </a:solidFill>
                <a:latin typeface="Arial"/>
              </a:rPr>
              <a:t>A VOC-to-CTQ translation table, a value-added analysis, and a waste wa</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3 — SIPOC, Process Mapping, Handoffs, and SME Supp</a:t>
            </a:r>
          </a:p>
          <a:p>
            <a:pPr algn="l">
              <a:spcAft>
                <a:spcPts val="300"/>
              </a:spcAft>
            </a:pPr>
            <a:r>
              <a:rPr sz="1100" b="0">
                <a:solidFill>
                  <a:srgbClr val="5B6372"/>
                </a:solidFill>
                <a:latin typeface="Arial"/>
              </a:rPr>
              <a:t>A completed SIPOC and a detailed process map with pain points marked.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5 — DMAIC Overview, Problem Statement, Scope, and </a:t>
            </a:r>
          </a:p>
          <a:p>
            <a:pPr algn="l">
              <a:spcAft>
                <a:spcPts val="300"/>
              </a:spcAft>
            </a:pPr>
            <a:r>
              <a:rPr sz="1100" b="0">
                <a:solidFill>
                  <a:srgbClr val="5B6372"/>
                </a:solidFill>
                <a:latin typeface="Arial"/>
              </a:rPr>
              <a:t>A DMAIC phase table, refined problem statement, stakeholder map and be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4 (elective) — PDCA Small Improvement Project Charter</a:t>
            </a:r>
          </a:p>
          <a:p>
            <a:pPr algn="l">
              <a:spcAft>
                <a:spcPts val="300"/>
              </a:spcAft>
            </a:pPr>
            <a:r>
              <a:rPr sz="1100" b="0">
                <a:solidFill>
                  <a:srgbClr val="5B6372"/>
                </a:solidFill>
                <a:latin typeface="Arial"/>
              </a:rPr>
              <a:t>A one-page PDCA charter with problem statement, goal, scope and succes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11 (elective) — Affinity Diagram and Kano Analysis</a:t>
            </a:r>
          </a:p>
          <a:p>
            <a:pPr algn="l">
              <a:spcAft>
                <a:spcPts val="300"/>
              </a:spcAft>
            </a:pPr>
            <a:r>
              <a:rPr sz="1100" b="0">
                <a:solidFill>
                  <a:srgbClr val="5B6372"/>
                </a:solidFill>
                <a:latin typeface="Arial"/>
              </a:rPr>
              <a:t>An Affinity Diagram of clustered VOC themes and a Kano classification </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VOC, CTQ tree, DOWNTIME eight wastes, value-added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Capture the Voice of the Customer — record at least five verbatim customer statements.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Translate each VOC statement into a need, then into a measurable CTQ requirement.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process activity as value-added, business-value-added or non-value-added.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Conduct a waste walk and tag each observation against the eight wastes (DOWNTIME).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defect (output fails CTQ) from waste (effort the customer will not pay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which single waste type appears most often in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process flowchart, swimlane map, standard process symbols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Set the process boundaries — agree the explicit start and stop points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SIPOC with the online builder: Suppliers, Inputs, Process (5-7 high-level steps), Outputs, Customers.</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Expand into a detailed process map: Step, Actor, Activity, System,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Assign an actor to each step — the tool generates the swimlane and detects every handoff for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Tag pain points on the steps — waiting, rework loop, unclear ownership, duplicate entry or missing decision rule (at least three).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SME notes for the Green Belt: what you observed and what needs validation.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'Check my SIPOC' in the tool — all five columns populated, 5-7 steps, at least three pain points, and every handoff owned on both sides.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PDCA cycle, problem/goal statements, scope in-out, stakeholder 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four PDCA phases to concrete actions for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process, time period, measurable issue and impact —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a measurable goal statement: metric, baseline, target and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scope with an explicit in-scope / out-of-scope table to prevent scope creep.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the decision you will make after the Check phase.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the improvement is small enough to test within two weeks.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project charter, stakeholder analysis, CTQ linkage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Summarise all five DMAIC phases: purpose, key deliverable and Yellow Belt support role.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Refine the problem statement so it is specific, measurable and solution-free.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classify each by influence and interest.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project scope and state the expected benefit in business terms.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Link the problem back to the CTQ requirements captured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which DMAIC phases a Yellow Belt can support most strongly.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Affinity Diagram, Kano Analysis, VOC clustering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each VOC statement on a separate note — one idea per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Cluster related notes into natural groups without talking, then name each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requirement as Must-Be, One-Dimensional or Delighter.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Plot the requirements on the Kano diagram and identify where to invest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Capture customer needs in their own words before deciding anything.</a:t>
            </a:r>
          </a:p>
          <a:p>
            <a:pPr>
              <a:spcAft>
                <a:spcPts val="1000"/>
              </a:spcAft>
            </a:pPr>
            <a:r>
              <a:rPr sz="1500">
                <a:solidFill>
                  <a:srgbClr val="161B26"/>
                </a:solidFill>
                <a:latin typeface="Arial"/>
              </a:rPr>
              <a:t>•  Critical to Quality — Translate each VOC need into a specific, measurable CTQ requirement.</a:t>
            </a:r>
          </a:p>
          <a:p>
            <a:pPr>
              <a:spcAft>
                <a:spcPts val="1000"/>
              </a:spcAft>
            </a:pPr>
            <a:r>
              <a:rPr sz="1500">
                <a:solidFill>
                  <a:srgbClr val="161B26"/>
                </a:solidFill>
                <a:latin typeface="Arial"/>
              </a:rPr>
              <a:t>•  Project charter — Problem statement, goal, scope, team and benefit — the project's contract.</a:t>
            </a:r>
          </a:p>
          <a:p>
            <a:pPr>
              <a:spcAft>
                <a:spcPts val="1000"/>
              </a:spcAft>
            </a:pPr>
            <a:r>
              <a:rPr sz="1500">
                <a:solidFill>
                  <a:srgbClr val="161B26"/>
                </a:solidFill>
                <a:latin typeface="Arial"/>
              </a:rPr>
              <a:t>•  Problem statement — Process, time period, measurable issue and impact — and never a solution.</a:t>
            </a:r>
          </a:p>
          <a:p>
            <a:pPr>
              <a:spcAft>
                <a:spcPts val="1000"/>
              </a:spcAft>
            </a:pPr>
            <a:r>
              <a:rPr sz="1500">
                <a:solidFill>
                  <a:srgbClr val="161B26"/>
                </a:solidFill>
                <a:latin typeface="Arial"/>
              </a:rPr>
              <a:t>•  SIPOC — The macro as-is map: Suppliers, Inputs, Process, Outputs, Customers.</a:t>
            </a:r>
          </a:p>
          <a:p>
            <a:pPr>
              <a:spcAft>
                <a:spcPts val="1000"/>
              </a:spcAft>
            </a:pPr>
            <a:r>
              <a:rPr sz="1500">
                <a:solidFill>
                  <a:srgbClr val="161B26"/>
                </a:solidFill>
                <a:latin typeface="Arial"/>
              </a:rPr>
              <a:t>•  Process mapping — Flowcharts and swimlanes expose the handoffs where delay and defects are born.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8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Continuous vs discrete; nominal vs ordinal — the data type drives the tool choice.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 plan</a:t>
            </a:r>
          </a:p>
          <a:p>
            <a:pPr algn="l">
              <a:spcAft>
                <a:spcPts val="300"/>
              </a:spcAft>
            </a:pPr>
            <a:r>
              <a:rPr sz="1100" b="0">
                <a:solidFill>
                  <a:srgbClr val="5B6372"/>
                </a:solidFill>
                <a:latin typeface="Arial"/>
              </a:rPr>
              <a:t>What, who, when and how — with operational definitions to remove ambiguity.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structured form is the most reliable way to capture process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metrics</a:t>
            </a:r>
          </a:p>
          <a:p>
            <a:pPr algn="l">
              <a:spcAft>
                <a:spcPts val="300"/>
              </a:spcAft>
            </a:pPr>
            <a:r>
              <a:rPr sz="1100" b="0">
                <a:solidFill>
                  <a:srgbClr val="5B6372"/>
                </a:solidFill>
                <a:latin typeface="Arial"/>
              </a:rPr>
              <a:t>Yield, DPU, DPO and DPMO quantify how well the process actually performs.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Sigma level</a:t>
            </a:r>
          </a:p>
          <a:p>
            <a:pPr algn="l">
              <a:spcAft>
                <a:spcPts val="300"/>
              </a:spcAft>
            </a:pPr>
            <a:r>
              <a:rPr sz="1100" b="0">
                <a:solidFill>
                  <a:srgbClr val="5B6372"/>
                </a:solidFill>
                <a:latin typeface="Arial"/>
              </a:rPr>
              <a:t>Convert DPMO into a sigma level to benchmark the process against Six Sigma.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Wrong ticket category, incomplete information, work that must be redone.</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Reports nobody reads; producing output before it is needed.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Tickets sitting in a queue waiting for triage or approval.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Skilled agents doing routine data entry a form could handle.</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Tickets bouncing between teams before reaching the right owner.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backlog of unassigned tickets.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Switching between four systems to resolve one ticket.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Approvals and checks that add no value to the customer.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diagnosing the actual fault.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mandatory audit logging.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ticket waiting in a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 IMPORTANT DISTINCTION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Waste is not the same as a defect.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defect is an output that fails the CTQ requirement. Waste is any effort along the way that the customer would not willingly pay for. Every defect creates waste — but most waste is not a defect.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MEASUREMENT SCALES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Nominal, Ordinal, Interval, Ratio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Nominal</a:t>
            </a:r>
          </a:p>
          <a:p>
            <a:pPr algn="l">
              <a:spcAft>
                <a:spcPts val="300"/>
              </a:spcAft>
            </a:pPr>
            <a:r>
              <a:rPr sz="1100" b="0">
                <a:solidFill>
                  <a:srgbClr val="5B6372"/>
                </a:solidFill>
                <a:latin typeface="Arial"/>
              </a:rPr>
              <a:t>Labels with no order — ticket category, agent name, department.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Ordinal</a:t>
            </a:r>
          </a:p>
          <a:p>
            <a:pPr algn="l">
              <a:spcAft>
                <a:spcPts val="300"/>
              </a:spcAft>
            </a:pPr>
            <a:r>
              <a:rPr sz="1100" b="0">
                <a:solidFill>
                  <a:srgbClr val="5B6372"/>
                </a:solidFill>
                <a:latin typeface="Arial"/>
              </a:rPr>
              <a:t>Ordered categories, but the gaps are not equal — priority P1/P2/P3, satisfaction 1-5.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Interval</a:t>
            </a:r>
          </a:p>
          <a:p>
            <a:pPr algn="l">
              <a:spcAft>
                <a:spcPts val="300"/>
              </a:spcAft>
            </a:pPr>
            <a:r>
              <a:rPr sz="1100" b="0">
                <a:solidFill>
                  <a:srgbClr val="5B6372"/>
                </a:solidFill>
                <a:latin typeface="Arial"/>
              </a:rPr>
              <a:t>Equal gaps, but no true zero — temperature in °C, calendar dates.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Ratio</a:t>
            </a:r>
          </a:p>
          <a:p>
            <a:pPr algn="l">
              <a:spcAft>
                <a:spcPts val="300"/>
              </a:spcAft>
            </a:pPr>
            <a:r>
              <a:rPr sz="1100" b="0">
                <a:solidFill>
                  <a:srgbClr val="5B6372"/>
                </a:solidFill>
                <a:latin typeface="Arial"/>
              </a:rPr>
              <a:t>Equal gaps and a true zero — assignment time, cost, number of tickets.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data type decides the tool.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your chart, your test and your sample size AFTER you know what kind of data you are holding — not before.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OPERATIONAL DEFINITIONS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Operational definitions remove the argument.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"Assignment time" means nothing until you state it precisely: the elapsed working hours from ticket submission timestamp to the first agent assignment timestamp, excluding weekends and public holidays.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SAMPLING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of being selected.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the population into groups, then sample randomly within each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Take every nth unit — simple, but beware of hidden cycles in the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Sample whole naturally occurring groups when individual sampling is impractical.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THE STANDARD 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Process Performance Metrics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Yield</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 (Good units / Total units) × 100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950 of 1,000 tickets assigned on time → 95% yield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DPU</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across 1,000 tickets → DPU = 0.6</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DPO</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 Opportunities)</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1,000 tickets, 3 opportunities each → DPO = 0.2</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DPMO</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DPO × 1,000,000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DPO of 0.2 → 200,000 DPMO</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An 'opportunity' is any single chance for a defect to occur on one unit — agree the count before you measure.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YIELD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Yield — Three Different Questions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Classic yield</a:t>
            </a:r>
          </a:p>
          <a:p>
            <a:pPr algn="l">
              <a:spcAft>
                <a:spcPts val="300"/>
              </a:spcAft>
            </a:pPr>
            <a:r>
              <a:rPr sz="1100" b="0">
                <a:solidFill>
                  <a:srgbClr val="5B6372"/>
                </a:solidFill>
                <a:latin typeface="Arial"/>
              </a:rPr>
              <a:t>What fraction of units passed final inspection? Ignores any rework along the way.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First pass yield (FPY)</a:t>
            </a:r>
          </a:p>
          <a:p>
            <a:pPr algn="l">
              <a:spcAft>
                <a:spcPts val="300"/>
              </a:spcAft>
            </a:pPr>
            <a:r>
              <a:rPr sz="1100" b="0">
                <a:solidFill>
                  <a:srgbClr val="5B6372"/>
                </a:solidFill>
                <a:latin typeface="Arial"/>
              </a:rPr>
              <a:t>What fraction passed with NO rework at any step? The honest number.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Rolled throughput yield (RTY)</a:t>
            </a:r>
          </a:p>
          <a:p>
            <a:pPr algn="l">
              <a:spcAft>
                <a:spcPts val="300"/>
              </a:spcAft>
            </a:pPr>
            <a:r>
              <a:rPr sz="1100" b="0">
                <a:solidFill>
                  <a:srgbClr val="5B6372"/>
                </a:solidFill>
                <a:latin typeface="Arial"/>
              </a:rPr>
              <a:t>Multiply the FPY of every step — the probability a unit passes cleanly through the entire process.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Why RTY matters</a:t>
            </a:r>
          </a:p>
          <a:p>
            <a:pPr algn="l">
              <a:spcAft>
                <a:spcPts val="300"/>
              </a:spcAft>
            </a:pPr>
            <a:r>
              <a:rPr sz="1100" b="0">
                <a:solidFill>
                  <a:srgbClr val="5B6372"/>
                </a:solidFill>
                <a:latin typeface="Arial"/>
              </a:rPr>
              <a:t>Five steps at 95% each give an RTY of only 77% — small defect rates compound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SIGMA LEVEL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From DPMO to Sigma Level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Sigma level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Look DPMO up in the sigma conversion table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200,000 DPMO ≈ 2.3σ</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Our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99.5% → 5,000 DPMO</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5,000 DPMO ≈ 4.1σ</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Six Sigma target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3.4 DPMO</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99.99966% yield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 level is the common yardstick that lets you compare performance across completely different processes.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BUSINESS CASE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 of Poor Quality (COPQ)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found before the customer sees them — rework, scrap, re-triage.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finds — complaints, escalations, lost trust.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 cost</a:t>
            </a:r>
          </a:p>
          <a:p>
            <a:pPr algn="l">
              <a:spcAft>
                <a:spcPts val="300"/>
              </a:spcAft>
            </a:pPr>
            <a:r>
              <a:rPr sz="1200" b="0">
                <a:solidFill>
                  <a:srgbClr val="5B6372"/>
                </a:solidFill>
                <a:latin typeface="Arial"/>
              </a:rPr>
              <a:t>The cost of inspecting and checking for defects.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 cost</a:t>
            </a:r>
          </a:p>
          <a:p>
            <a:pPr algn="l">
              <a:spcAft>
                <a:spcPts val="300"/>
              </a:spcAft>
            </a:pPr>
            <a:r>
              <a:rPr sz="1200" b="0">
                <a:solidFill>
                  <a:srgbClr val="5B6372"/>
                </a:solidFill>
                <a:latin typeface="Arial"/>
              </a:rPr>
              <a:t>The cost of stopping defects happening — training, poka-yoke, better design.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6 — Data Collection, KPIs, Check Sheets, and Basic</a:t>
            </a:r>
          </a:p>
          <a:p>
            <a:pPr algn="l">
              <a:spcAft>
                <a:spcPts val="300"/>
              </a:spcAft>
            </a:pPr>
            <a:r>
              <a:rPr sz="1100" b="0">
                <a:solidFill>
                  <a:srgbClr val="5B6372"/>
                </a:solidFill>
                <a:latin typeface="Arial"/>
              </a:rPr>
              <a:t>A data collection plan, an operational definition set and a working ch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12 (elective) — Value Stream Map and Takt Time</a:t>
            </a:r>
          </a:p>
          <a:p>
            <a:pPr algn="l">
              <a:spcAft>
                <a:spcPts val="300"/>
              </a:spcAft>
            </a:pPr>
            <a:r>
              <a:rPr sz="1100" b="0">
                <a:solidFill>
                  <a:srgbClr val="5B6372"/>
                </a:solidFill>
                <a:latin typeface="Arial"/>
              </a:rPr>
              <a:t>A value stream map with lead time, process time and a calculated takt </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KPI definition, operational definitions, check sheets, sampling, data 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your data: continuous vs discrete, nominal vs ordinal — and why it matters.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KPIs with operational definitions, data source and collection frequency.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a check sheet capturing date, ticket ID, type, assignment time and defect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mutually exclusive defect categories so every observation lands in exactly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sampling: how many, how often, by whom — and identify possible bias.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which KPI best reflects the customer pain point from your VOC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value stream mapping, lead time, WIP, takt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value stream: each step with its process time and the wait time between steps. Start from your Lab 3 process map.</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Total the value-added time and the lead time, then compute process cycle efficiency.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takt time = available working time / customer demand.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cycle time against takt time to identify the bottleneck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The 8 wastes — DOWNTIME — Defects, Overproduction, Waiting, Non-utilised talent, Transport, Inventory, Motion, Extra-processing.</a:t>
            </a:r>
          </a:p>
          <a:p>
            <a:pPr>
              <a:spcAft>
                <a:spcPts val="1000"/>
              </a:spcAft>
            </a:pPr>
            <a:r>
              <a:rPr sz="1500">
                <a:solidFill>
                  <a:srgbClr val="161B26"/>
                </a:solidFill>
                <a:latin typeface="Arial"/>
              </a:rPr>
              <a:t>•  Types of data — Continuous vs discrete; nominal vs ordinal — the data type drives the tool choice.</a:t>
            </a:r>
          </a:p>
          <a:p>
            <a:pPr>
              <a:spcAft>
                <a:spcPts val="1000"/>
              </a:spcAft>
            </a:pPr>
            <a:r>
              <a:rPr sz="1500">
                <a:solidFill>
                  <a:srgbClr val="161B26"/>
                </a:solidFill>
                <a:latin typeface="Arial"/>
              </a:rPr>
              <a:t>•  Data collection plan — What, who, when and how — with operational definitions to remove ambiguity.</a:t>
            </a:r>
          </a:p>
          <a:p>
            <a:pPr>
              <a:spcAft>
                <a:spcPts val="1000"/>
              </a:spcAft>
            </a:pPr>
            <a:r>
              <a:rPr sz="1500">
                <a:solidFill>
                  <a:srgbClr val="161B26"/>
                </a:solidFill>
                <a:latin typeface="Arial"/>
              </a:rPr>
              <a:t>•  Check sheets — A simple structured form is the most reliable way to capture process data.</a:t>
            </a:r>
          </a:p>
          <a:p>
            <a:pPr>
              <a:spcAft>
                <a:spcPts val="1000"/>
              </a:spcAft>
            </a:pPr>
            <a:r>
              <a:rPr sz="1500">
                <a:solidFill>
                  <a:srgbClr val="161B26"/>
                </a:solidFill>
                <a:latin typeface="Arial"/>
              </a:rPr>
              <a:t>•  Process metrics — Yield, DPU, DPO and DPMO quantify how well the process actually performs.</a:t>
            </a:r>
          </a:p>
          <a:p>
            <a:pPr>
              <a:spcAft>
                <a:spcPts val="1000"/>
              </a:spcAft>
            </a:pPr>
            <a:r>
              <a:rPr sz="1500">
                <a:solidFill>
                  <a:srgbClr val="161B26"/>
                </a:solidFill>
                <a:latin typeface="Arial"/>
              </a:rPr>
              <a:t>•  Sigma level — Convert DPMO into a sigma level to benchmark the process against Six Sigma.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Common cause is built into the process; special cause is an external, assignable signal.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analysis</a:t>
            </a:r>
          </a:p>
          <a:p>
            <a:pPr algn="l">
              <a:spcAft>
                <a:spcPts val="300"/>
              </a:spcAft>
            </a:pPr>
            <a:r>
              <a:rPr sz="1100" b="0">
                <a:solidFill>
                  <a:srgbClr val="5B6372"/>
                </a:solidFill>
                <a:latin typeface="Arial"/>
              </a:rPr>
              <a:t>The 80/20 rule separates the vital few causes from the trivial many.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charts</a:t>
            </a:r>
          </a:p>
          <a:p>
            <a:pPr algn="l">
              <a:spcAft>
                <a:spcPts val="300"/>
              </a:spcAft>
            </a:pPr>
            <a:r>
              <a:rPr sz="1100" b="0">
                <a:solidFill>
                  <a:srgbClr val="5B6372"/>
                </a:solidFill>
                <a:latin typeface="Arial"/>
              </a:rPr>
              <a:t>Plot the metric over time to reveal trend, shift, cluster and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Ask why repeatedly to drill from the symptom down to an actionable cause.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Organise candidate causes by category — Manpower, Method, Machine, Material, Measurement.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Evidence testing</a:t>
            </a:r>
          </a:p>
          <a:p>
            <a:pPr algn="l">
              <a:spcAft>
                <a:spcPts val="300"/>
              </a:spcAft>
            </a:pPr>
            <a:r>
              <a:rPr sz="1100" b="0">
                <a:solidFill>
                  <a:srgbClr val="5B6372"/>
                </a:solidFill>
                <a:latin typeface="Arial"/>
              </a:rPr>
              <a:t>A cause is only a root cause when the data you collected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MOST COMMON ANALYSIS MISTAKE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react to a single data point.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Treating common-cause variation as if it were special cause — called tampering — reliably makes the process worse, not better.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Delayed Ticket Assignment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Unclear</a:t>
            </a:r>
          </a:p>
          <a:p>
            <a:pPr algn="ctr">
              <a:spcAft>
                <a:spcPts val="400"/>
              </a:spcAft>
            </a:pPr>
            <a:r>
              <a:rPr sz="1000" b="0">
                <a:solidFill>
                  <a:srgbClr val="5B6372"/>
                </a:solidFill>
                <a:latin typeface="Arial"/>
              </a:rPr>
              <a:t>triage rules</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Peak-hour</a:t>
            </a:r>
          </a:p>
          <a:p>
            <a:pPr algn="ctr">
              <a:spcAft>
                <a:spcPts val="400"/>
              </a:spcAft>
            </a:pPr>
            <a:r>
              <a:rPr sz="1000" b="0">
                <a:solidFill>
                  <a:srgbClr val="5B6372"/>
                </a:solidFill>
                <a:latin typeface="Arial"/>
              </a:rPr>
              <a:t>understaffing</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Incomplete</a:t>
            </a:r>
          </a:p>
          <a:p>
            <a:pPr algn="ctr">
              <a:spcAft>
                <a:spcPts val="400"/>
              </a:spcAft>
            </a:pPr>
            <a:r>
              <a:rPr sz="1000" b="0">
                <a:solidFill>
                  <a:srgbClr val="5B6372"/>
                </a:solidFill>
                <a:latin typeface="Arial"/>
              </a:rPr>
              <a:t>ticket info</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System</a:t>
            </a:r>
          </a:p>
          <a:p>
            <a:pPr algn="ctr">
              <a:spcAft>
                <a:spcPts val="400"/>
              </a:spcAft>
            </a:pPr>
            <a:r>
              <a:rPr sz="1000" b="0">
                <a:solidFill>
                  <a:srgbClr val="5B6372"/>
                </a:solidFill>
                <a:latin typeface="Arial"/>
              </a:rPr>
              <a:t>slowness</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Wrong</a:t>
            </a:r>
          </a:p>
          <a:p>
            <a:pPr algn="ctr">
              <a:spcAft>
                <a:spcPts val="400"/>
              </a:spcAft>
            </a:pPr>
            <a:r>
              <a:rPr sz="1000" b="0">
                <a:solidFill>
                  <a:srgbClr val="5B6372"/>
                </a:solidFill>
                <a:latin typeface="Arial"/>
              </a:rPr>
              <a:t>category</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categories — unclear triage rules and peak-hour understaffing — account for about 66% of all delays.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PARETO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Pareto Chart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Agree the categories and make them mutually exclusive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Count the occurrences in each category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Sort the categories in descending 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Calculate the cumulative percentage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Plot bars plus the cumulative line and read off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SEEING BEHAVIOUR OVER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Chart — Average Ticket Assignment Time by Day</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8318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71859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9.5</a:t>
            </a:r>
          </a:p>
        </p:txBody>
      </p:sp>
      <p:cxnSp>
        <p:nvCxnSpPr>
          <p:cNvPr id="10" name="Connector 9"/>
          <p:cNvCxnSpPr/>
          <p:nvPr/>
        </p:nvCxnSpPr>
        <p:spPr>
          <a:xfrm>
            <a:off x="1188720" y="4154490"/>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35200" y="3792750"/>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81680" y="3069269"/>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28160" y="3069269"/>
            <a:ext cx="1046480" cy="4521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74640" y="3521444"/>
            <a:ext cx="1046480" cy="13565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1120" y="4244926"/>
            <a:ext cx="1046480" cy="63304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67600" y="2345787"/>
            <a:ext cx="1046480" cy="189913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14080" y="2345787"/>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60560" y="2707528"/>
            <a:ext cx="1046480"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0140" y="408591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a:t>
            </a:r>
          </a:p>
        </p:txBody>
      </p:sp>
      <p:sp>
        <p:nvSpPr>
          <p:cNvPr id="21" name="Oval 20"/>
          <p:cNvSpPr/>
          <p:nvPr/>
        </p:nvSpPr>
        <p:spPr>
          <a:xfrm>
            <a:off x="2166620" y="444765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94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D2</a:t>
            </a:r>
          </a:p>
        </p:txBody>
      </p:sp>
      <p:sp>
        <p:nvSpPr>
          <p:cNvPr id="23" name="Oval 22"/>
          <p:cNvSpPr/>
          <p:nvPr/>
        </p:nvSpPr>
        <p:spPr>
          <a:xfrm>
            <a:off x="3213100" y="372417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159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D3</a:t>
            </a:r>
          </a:p>
        </p:txBody>
      </p:sp>
      <p:sp>
        <p:nvSpPr>
          <p:cNvPr id="25" name="Oval 24"/>
          <p:cNvSpPr/>
          <p:nvPr/>
        </p:nvSpPr>
        <p:spPr>
          <a:xfrm>
            <a:off x="4259580" y="300068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624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D4</a:t>
            </a:r>
          </a:p>
        </p:txBody>
      </p:sp>
      <p:sp>
        <p:nvSpPr>
          <p:cNvPr id="27" name="Oval 26"/>
          <p:cNvSpPr/>
          <p:nvPr/>
        </p:nvSpPr>
        <p:spPr>
          <a:xfrm>
            <a:off x="5306060" y="345286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088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D5</a:t>
            </a:r>
          </a:p>
        </p:txBody>
      </p:sp>
      <p:sp>
        <p:nvSpPr>
          <p:cNvPr id="29" name="Oval 28"/>
          <p:cNvSpPr/>
          <p:nvPr/>
        </p:nvSpPr>
        <p:spPr>
          <a:xfrm>
            <a:off x="635254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53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D6</a:t>
            </a:r>
          </a:p>
        </p:txBody>
      </p:sp>
      <p:sp>
        <p:nvSpPr>
          <p:cNvPr id="31" name="Oval 30"/>
          <p:cNvSpPr/>
          <p:nvPr/>
        </p:nvSpPr>
        <p:spPr>
          <a:xfrm>
            <a:off x="7399020" y="417634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018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D7</a:t>
            </a:r>
          </a:p>
        </p:txBody>
      </p:sp>
      <p:sp>
        <p:nvSpPr>
          <p:cNvPr id="33" name="Oval 32"/>
          <p:cNvSpPr/>
          <p:nvPr/>
        </p:nvSpPr>
        <p:spPr>
          <a:xfrm>
            <a:off x="844550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483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D8</a:t>
            </a:r>
          </a:p>
        </p:txBody>
      </p:sp>
      <p:sp>
        <p:nvSpPr>
          <p:cNvPr id="35" name="Oval 34"/>
          <p:cNvSpPr/>
          <p:nvPr/>
        </p:nvSpPr>
        <p:spPr>
          <a:xfrm>
            <a:off x="9491980" y="263894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948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D9</a:t>
            </a:r>
          </a:p>
        </p:txBody>
      </p:sp>
      <p:sp>
        <p:nvSpPr>
          <p:cNvPr id="37" name="Oval 36"/>
          <p:cNvSpPr/>
          <p:nvPr/>
        </p:nvSpPr>
        <p:spPr>
          <a:xfrm>
            <a:off x="10538460" y="390504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D10</a:t>
            </a:r>
          </a:p>
        </p:txBody>
      </p:sp>
      <p:sp>
        <p:nvSpPr>
          <p:cNvPr id="39" name="TextBox 38"/>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 single point above the median is normal variation. A run of 7+ points on one side signals a real shift.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RUN CHART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Run Chart — Five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Trend</a:t>
            </a:r>
          </a:p>
          <a:p>
            <a:pPr algn="l">
              <a:spcAft>
                <a:spcPts val="300"/>
              </a:spcAft>
            </a:pPr>
            <a:r>
              <a:rPr sz="1000" b="0">
                <a:solidFill>
                  <a:srgbClr val="5B6372"/>
                </a:solidFill>
                <a:latin typeface="Arial"/>
              </a:rPr>
              <a:t>7 or more consecutive points rising or falling — the process is drifting.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Shift</a:t>
            </a:r>
          </a:p>
          <a:p>
            <a:pPr algn="l">
              <a:spcAft>
                <a:spcPts val="300"/>
              </a:spcAft>
            </a:pPr>
            <a:r>
              <a:rPr sz="1000" b="0">
                <a:solidFill>
                  <a:srgbClr val="5B6372"/>
                </a:solidFill>
                <a:latin typeface="Arial"/>
              </a:rPr>
              <a:t>8 or more consecutive points on one side of the median — something changed.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Cluster</a:t>
            </a:r>
          </a:p>
          <a:p>
            <a:pPr algn="l">
              <a:spcAft>
                <a:spcPts val="300"/>
              </a:spcAft>
            </a:pPr>
            <a:r>
              <a:rPr sz="1000" b="0">
                <a:solidFill>
                  <a:srgbClr val="5B6372"/>
                </a:solidFill>
                <a:latin typeface="Arial"/>
              </a:rPr>
              <a:t>Points grouped together — suggests a periodic or batch effect.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Oscillation</a:t>
            </a:r>
          </a:p>
          <a:p>
            <a:pPr algn="l">
              <a:spcAft>
                <a:spcPts val="300"/>
              </a:spcAft>
            </a:pPr>
            <a:r>
              <a:rPr sz="1000" b="0">
                <a:solidFill>
                  <a:srgbClr val="5B6372"/>
                </a:solidFill>
                <a:latin typeface="Arial"/>
              </a:rPr>
              <a:t>Rapid up-down swings — the process is unstable, often from over-adjustment.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Mixture</a:t>
            </a:r>
          </a:p>
          <a:p>
            <a:pPr algn="l">
              <a:spcAft>
                <a:spcPts val="300"/>
              </a:spcAft>
            </a:pPr>
            <a:r>
              <a:rPr sz="1000" b="0">
                <a:solidFill>
                  <a:srgbClr val="5B6372"/>
                </a:solidFill>
                <a:latin typeface="Arial"/>
              </a:rPr>
              <a:t>Points avoiding the centre line — often two different processes combined.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 pattern</a:t>
            </a:r>
          </a:p>
          <a:p>
            <a:pPr algn="l">
              <a:spcAft>
                <a:spcPts val="300"/>
              </a:spcAft>
            </a:pPr>
            <a:r>
              <a:rPr sz="1000" b="0">
                <a:solidFill>
                  <a:srgbClr val="5B6372"/>
                </a:solidFill>
                <a:latin typeface="Arial"/>
              </a:rPr>
              <a:t>Random scatter around the median — stable, common-cause variation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WHY EVIDENCE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Fixing the wrong cause wastes the whole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the analysis stops at the first plausible explanation, the team implements a change, the metric does not move, and confidence in the method is lost.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Ticket Assignment Delay</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Tickets take 9.4 hours to assign vs a 4-hour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Tickets wait in the triage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Only one agent triages, and only in the morning</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Triage is not in anyone's core role definition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Triage ownership was never assigned when the process changed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Ticket Assignment Is Delayed</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Ticket</a:t>
            </a:r>
          </a:p>
          <a:p>
            <a:pPr algn="ctr">
              <a:spcAft>
                <a:spcPts val="400"/>
              </a:spcAft>
            </a:pPr>
            <a:r>
              <a:rPr sz="1300" b="1">
                <a:solidFill>
                  <a:srgbClr val="FFFFFF"/>
                </a:solidFill>
                <a:latin typeface="Arial"/>
              </a:rPr>
              <a:t>assignment</a:t>
            </a:r>
          </a:p>
          <a:p>
            <a:pPr algn="ctr">
              <a:spcAft>
                <a:spcPts val="400"/>
              </a:spcAft>
            </a:pPr>
            <a:r>
              <a:rPr sz="1300" b="1">
                <a:solidFill>
                  <a:srgbClr val="FFFFFF"/>
                </a:solidFill>
                <a:latin typeface="Arial"/>
              </a:rPr>
              <a:t>is delayed</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triage agent only</a:t>
            </a:r>
          </a:p>
          <a:p>
            <a:pPr>
              <a:spcAft>
                <a:spcPts val="100"/>
              </a:spcAft>
            </a:pPr>
            <a:r>
              <a:rPr sz="1000">
                <a:solidFill>
                  <a:srgbClr val="161B26"/>
                </a:solidFill>
                <a:latin typeface="Arial"/>
              </a:rPr>
              <a:t>•  No cover at peak</a:t>
            </a:r>
          </a:p>
          <a:p>
            <a:pPr>
              <a:spcAft>
                <a:spcPts val="100"/>
              </a:spcAft>
            </a:pPr>
            <a:r>
              <a:rPr sz="1000">
                <a:solidFill>
                  <a:srgbClr val="161B26"/>
                </a:solidFill>
                <a:latin typeface="Arial"/>
              </a:rPr>
              <a:t>•  Unclear ownership</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Ticket tool slow</a:t>
            </a:r>
          </a:p>
          <a:p>
            <a:pPr>
              <a:spcAft>
                <a:spcPts val="100"/>
              </a:spcAft>
            </a:pPr>
            <a:r>
              <a:rPr sz="1000">
                <a:solidFill>
                  <a:srgbClr val="161B26"/>
                </a:solidFill>
                <a:latin typeface="Arial"/>
              </a:rPr>
              <a:t>•  No auto-assignment</a:t>
            </a:r>
          </a:p>
          <a:p>
            <a:pPr>
              <a:spcAft>
                <a:spcPts val="100"/>
              </a:spcAft>
            </a:pPr>
            <a:r>
              <a:rPr sz="1000">
                <a:solidFill>
                  <a:srgbClr val="161B26"/>
                </a:solidFill>
                <a:latin typeface="Arial"/>
              </a:rPr>
              <a:t>•  Four systems to check</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No SLA clock on triage</a:t>
            </a:r>
          </a:p>
          <a:p>
            <a:pPr>
              <a:spcAft>
                <a:spcPts val="100"/>
              </a:spcAft>
            </a:pPr>
            <a:r>
              <a:rPr sz="1000">
                <a:solidFill>
                  <a:srgbClr val="161B26"/>
                </a:solidFill>
                <a:latin typeface="Arial"/>
              </a:rPr>
              <a:t>•  Assignment time not tracked</a:t>
            </a:r>
          </a:p>
          <a:p>
            <a:pPr>
              <a:spcAft>
                <a:spcPts val="100"/>
              </a:spcAft>
            </a:pPr>
            <a:r>
              <a:rPr sz="1000">
                <a:solidFill>
                  <a:srgbClr val="161B26"/>
                </a:solidFill>
                <a:latin typeface="Arial"/>
              </a:rPr>
              <a:t>•  No baseline agreed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Triage rules ambiguous</a:t>
            </a:r>
          </a:p>
          <a:p>
            <a:pPr>
              <a:spcAft>
                <a:spcPts val="100"/>
              </a:spcAft>
            </a:pPr>
            <a:r>
              <a:rPr sz="1000">
                <a:solidFill>
                  <a:srgbClr val="161B26"/>
                </a:solidFill>
                <a:latin typeface="Arial"/>
              </a:rPr>
              <a:t>•  No priority definition</a:t>
            </a:r>
          </a:p>
          <a:p>
            <a:pPr>
              <a:spcAft>
                <a:spcPts val="100"/>
              </a:spcAft>
            </a:pPr>
            <a:r>
              <a:rPr sz="1000">
                <a:solidFill>
                  <a:srgbClr val="161B26"/>
                </a:solidFill>
                <a:latin typeface="Arial"/>
              </a:rPr>
              <a:t>•  Manual routing</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Incomplete ticket info</a:t>
            </a:r>
          </a:p>
          <a:p>
            <a:pPr>
              <a:spcAft>
                <a:spcPts val="100"/>
              </a:spcAft>
            </a:pPr>
            <a:r>
              <a:rPr sz="1000">
                <a:solidFill>
                  <a:srgbClr val="161B26"/>
                </a:solidFill>
                <a:latin typeface="Arial"/>
              </a:rPr>
              <a:t>•  Wrong category chosen</a:t>
            </a:r>
          </a:p>
          <a:p>
            <a:pPr>
              <a:spcAft>
                <a:spcPts val="100"/>
              </a:spcAft>
            </a:pPr>
            <a:r>
              <a:rPr sz="1000">
                <a:solidFill>
                  <a:srgbClr val="161B26"/>
                </a:solidFill>
                <a:latin typeface="Arial"/>
              </a:rPr>
              <a:t>•  No template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FISHBONE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a Fishbone Diagram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effect</a:t>
            </a:r>
          </a:p>
          <a:p>
            <a:pPr algn="l">
              <a:spcAft>
                <a:spcPts val="300"/>
              </a:spcAft>
            </a:pPr>
            <a:r>
              <a:rPr sz="1100" b="0">
                <a:solidFill>
                  <a:srgbClr val="5B6372"/>
                </a:solidFill>
                <a:latin typeface="Arial"/>
              </a:rPr>
              <a:t>Put the measured problem in the head of the fish — be specific.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Choose the categories</a:t>
            </a:r>
          </a:p>
          <a:p>
            <a:pPr algn="l">
              <a:spcAft>
                <a:spcPts val="300"/>
              </a:spcAft>
            </a:pPr>
            <a:r>
              <a:rPr sz="1100" b="0">
                <a:solidFill>
                  <a:srgbClr val="5B6372"/>
                </a:solidFill>
                <a:latin typeface="Arial"/>
              </a:rPr>
              <a:t>5M: Manpower, Method, Machine, Material, Measurement. Service teams often use 4P.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Brainstorm into each bone</a:t>
            </a:r>
          </a:p>
          <a:p>
            <a:pPr algn="l">
              <a:spcAft>
                <a:spcPts val="300"/>
              </a:spcAft>
            </a:pPr>
            <a:r>
              <a:rPr sz="1100" b="0">
                <a:solidFill>
                  <a:srgbClr val="5B6372"/>
                </a:solidFill>
                <a:latin typeface="Arial"/>
              </a:rPr>
              <a:t>Generate freely — no evaluation or debate during generation.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 three levels deep</a:t>
            </a:r>
          </a:p>
          <a:p>
            <a:pPr algn="l">
              <a:spcAft>
                <a:spcPts val="300"/>
              </a:spcAft>
            </a:pPr>
            <a:r>
              <a:rPr sz="1100" b="0">
                <a:solidFill>
                  <a:srgbClr val="5B6372"/>
                </a:solidFill>
                <a:latin typeface="Arial"/>
              </a:rPr>
              <a:t>Ask 'why does that happen?' on each cause to reach the real driver.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Shortlist with multi-voting</a:t>
            </a:r>
          </a:p>
          <a:p>
            <a:pPr algn="l">
              <a:spcAft>
                <a:spcPts val="300"/>
              </a:spcAft>
            </a:pPr>
            <a:r>
              <a:rPr sz="1100" b="0">
                <a:solidFill>
                  <a:srgbClr val="5B6372"/>
                </a:solidFill>
                <a:latin typeface="Arial"/>
              </a:rPr>
              <a:t>Each team member votes; the causes with most votes go forward.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A cause on the diagram is a HYPOTHESIS until the data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BRAINSTORMING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Brainstorming — Getting Good Causes Out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Quantity first</a:t>
            </a:r>
          </a:p>
          <a:p>
            <a:pPr algn="l">
              <a:spcAft>
                <a:spcPts val="300"/>
              </a:spcAft>
            </a:pPr>
            <a:r>
              <a:rPr sz="1200" b="0">
                <a:solidFill>
                  <a:srgbClr val="5B6372"/>
                </a:solidFill>
                <a:latin typeface="Arial"/>
              </a:rPr>
              <a:t>Generate a long list before evaluating anything.</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 criticism</a:t>
            </a:r>
          </a:p>
          <a:p>
            <a:pPr algn="l">
              <a:spcAft>
                <a:spcPts val="300"/>
              </a:spcAft>
            </a:pPr>
            <a:r>
              <a:rPr sz="1200" b="0">
                <a:solidFill>
                  <a:srgbClr val="5B6372"/>
                </a:solidFill>
                <a:latin typeface="Arial"/>
              </a:rPr>
              <a:t>Judging ideas during generation stops people contributing.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on ideas</a:t>
            </a:r>
          </a:p>
          <a:p>
            <a:pPr algn="l">
              <a:spcAft>
                <a:spcPts val="300"/>
              </a:spcAft>
            </a:pPr>
            <a:r>
              <a:rPr sz="1200" b="0">
                <a:solidFill>
                  <a:srgbClr val="5B6372"/>
                </a:solidFill>
                <a:latin typeface="Arial"/>
              </a:rPr>
              <a:t>One person's half-idea is often another's breakthrough.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Everyone contributes</a:t>
            </a:r>
          </a:p>
          <a:p>
            <a:pPr algn="l">
              <a:spcAft>
                <a:spcPts val="300"/>
              </a:spcAft>
            </a:pPr>
            <a:r>
              <a:rPr sz="1200" b="0">
                <a:solidFill>
                  <a:srgbClr val="5B6372"/>
                </a:solidFill>
                <a:latin typeface="Arial"/>
              </a:rPr>
              <a:t>Use round-robin or brainwriting so the loudest voice does not dominate.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MULTI-VOTING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 Narrowing the List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use it</a:t>
            </a:r>
          </a:p>
          <a:p>
            <a:pPr algn="l">
              <a:spcAft>
                <a:spcPts val="300"/>
              </a:spcAft>
            </a:pPr>
            <a:r>
              <a:rPr sz="1200" b="0">
                <a:solidFill>
                  <a:srgbClr val="5B6372"/>
                </a:solidFill>
                <a:latin typeface="Arial"/>
              </a:rPr>
              <a:t>A long cause list needs to become a short, agreed shortlist.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it works</a:t>
            </a:r>
          </a:p>
          <a:p>
            <a:pPr algn="l">
              <a:spcAft>
                <a:spcPts val="300"/>
              </a:spcAft>
            </a:pPr>
            <a:r>
              <a:rPr sz="1200" b="0">
                <a:solidFill>
                  <a:srgbClr val="5B6372"/>
                </a:solidFill>
                <a:latin typeface="Arial"/>
              </a:rPr>
              <a:t>Each member gets N votes (about a third of the number of items).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Vote independently</a:t>
            </a:r>
          </a:p>
          <a:p>
            <a:pPr algn="l">
              <a:spcAft>
                <a:spcPts val="300"/>
              </a:spcAft>
            </a:pPr>
            <a:r>
              <a:rPr sz="1200" b="0">
                <a:solidFill>
                  <a:srgbClr val="5B6372"/>
                </a:solidFill>
                <a:latin typeface="Arial"/>
              </a:rPr>
              <a:t>Vote privately first so nobody anchors on the manager's choice.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Then verify</a:t>
            </a:r>
          </a:p>
          <a:p>
            <a:pPr algn="l">
              <a:spcAft>
                <a:spcPts val="300"/>
              </a:spcAft>
            </a:pPr>
            <a:r>
              <a:rPr sz="1200" b="0">
                <a:solidFill>
                  <a:srgbClr val="5B6372"/>
                </a:solidFill>
                <a:latin typeface="Arial"/>
              </a:rPr>
              <a:t>The top-voted causes still have to be tested against the data.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ONLINE TOOLKIT · USED ACROSS DMAIC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Complete Online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SIPOC &amp; Process Map</a:t>
            </a:r>
          </a:p>
          <a:p>
            <a:pPr algn="l">
              <a:spcAft>
                <a:spcPts val="300"/>
              </a:spcAft>
            </a:pPr>
            <a:r>
              <a:rPr sz="1000" b="0">
                <a:solidFill>
                  <a:srgbClr val="5B6372"/>
                </a:solidFill>
                <a:latin typeface="Arial"/>
              </a:rPr>
              <a:t>Define — guided SIPOC, swimlane and handoffs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5 Whys</a:t>
            </a:r>
          </a:p>
          <a:p>
            <a:pPr algn="l">
              <a:spcAft>
                <a:spcPts val="300"/>
              </a:spcAft>
            </a:pPr>
            <a:r>
              <a:rPr sz="1000" b="0">
                <a:solidFill>
                  <a:srgbClr val="5B6372"/>
                </a:solidFill>
                <a:latin typeface="Arial"/>
              </a:rPr>
              <a:t>Analyze — build and share the 5 Whys chain — alfredang.github.io/5whys/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Fishbone Diagram</a:t>
            </a:r>
          </a:p>
          <a:p>
            <a:pPr algn="l">
              <a:spcAft>
                <a:spcPts val="300"/>
              </a:spcAft>
            </a:pPr>
            <a:r>
              <a:rPr sz="1000" b="0">
                <a:solidFill>
                  <a:srgbClr val="5B6372"/>
                </a:solidFill>
                <a:latin typeface="Arial"/>
              </a:rPr>
              <a:t>Analyze — Ishikawa cause-and-effect builder — alfredang.github.io/fishbone/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Pareto Chart (collaborative)</a:t>
            </a:r>
          </a:p>
          <a:p>
            <a:pPr algn="l">
              <a:spcAft>
                <a:spcPts val="300"/>
              </a:spcAft>
            </a:pPr>
            <a:r>
              <a:rPr sz="1000" b="0">
                <a:solidFill>
                  <a:srgbClr val="5B6372"/>
                </a:solidFill>
                <a:latin typeface="Arial"/>
              </a:rPr>
              <a:t>Analyze — your team brainstorms and votes in one live session; the chart builds itself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NovaSPC</a:t>
            </a:r>
          </a:p>
          <a:p>
            <a:pPr algn="l">
              <a:spcAft>
                <a:spcPts val="300"/>
              </a:spcAft>
            </a:pPr>
            <a:r>
              <a:rPr sz="1000" b="0">
                <a:solidFill>
                  <a:srgbClr val="5B6372"/>
                </a:solidFill>
                <a:latin typeface="Arial"/>
              </a:rPr>
              <a:t>Measure &amp; Control — 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All free</a:t>
            </a:r>
          </a:p>
          <a:p>
            <a:pPr algn="l">
              <a:spcAft>
                <a:spcPts val="300"/>
              </a:spcAft>
            </a:pPr>
            <a:r>
              <a:rPr sz="1000" b="0">
                <a:solidFill>
                  <a:srgbClr val="5B6372"/>
                </a:solidFill>
                <a:latin typeface="Arial"/>
              </a:rPr>
              <a:t>No install, no sign-up. Everything stays in your browser.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TEAM ROOT CAUSE SESSION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Collaborative Pareto Tool in Your Team</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Facilitator creates a session and shares the access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 team member joins with the code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team brainstorms candidate causes into the session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Each member votes on the causes that matter most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live Pareto chart reveals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7 — Pareto, Run Charts, Variation, Yield, DPU, and</a:t>
            </a:r>
          </a:p>
          <a:p>
            <a:pPr algn="l">
              <a:spcAft>
                <a:spcPts val="300"/>
              </a:spcAft>
            </a:pPr>
            <a:r>
              <a:rPr sz="1100" b="0">
                <a:solidFill>
                  <a:srgbClr val="5B6372"/>
                </a:solidFill>
                <a:latin typeface="Arial"/>
              </a:rPr>
              <a:t>A Pareto chart, a run chart and calculated yield, DPU, DPO, DPMO and 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8 — Root Cause Analysis with 5 Whys, Fishbone, and</a:t>
            </a:r>
          </a:p>
          <a:p>
            <a:pPr algn="l">
              <a:spcAft>
                <a:spcPts val="300"/>
              </a:spcAft>
            </a:pPr>
            <a:r>
              <a:rPr sz="1100" b="0">
                <a:solidFill>
                  <a:srgbClr val="5B6372"/>
                </a:solidFill>
                <a:latin typeface="Arial"/>
              </a:rPr>
              <a:t>A completed 5 Whys chain, a Fishbone diagram and an evidence-tested ca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Pareto Chart tool (collaborative), NovaSPC, yield/DPU/DPO/DPMO, sigma level,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Pareto table: category, count, percentage and cumulative percentage.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https://alfredang.github.io/paretochart/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the vital few categories driving about 80% of the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Export your assignment-time data as CSV and plot a run chart in NovaSPC.</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https://alfredang.github.io/novaspc/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Interpret the run chart for trend, shift, cluster and oscillation patterns.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yield, DPU, DPO and DPMO from your defect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Convert DPMO to a sigma level and interpret what it says about the process.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8</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common-cause from special-cause variation and why the response differs.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5 Whys tool, Fishbone tool, 5M categories, brainstorming, multi-voting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precisely — the effect you are explaining.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a 5 Whys chain with the online 5 Whys tool, continuing until you reach an actionable cause.</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https://alfredang.github.io/5whys/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 Fishbone diagram with the online Fishbone tool using the 5M categories: Manpower, Method, Machine, Material, Measurement.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https://alfredang.github.io/fishbone/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Brainstorm candidate causes into each category — no evaluation during generation.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Use multi-voting to shortlist the most likely causes as a team.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each shortlisted cause against your Lab 7 data — does the evidence support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why the team must not jump straight to solutions.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Variation — Common cause is built into the process; special cause is an external, assignable signal.</a:t>
            </a:r>
          </a:p>
          <a:p>
            <a:pPr>
              <a:spcAft>
                <a:spcPts val="1000"/>
              </a:spcAft>
            </a:pPr>
            <a:r>
              <a:rPr sz="1500">
                <a:solidFill>
                  <a:srgbClr val="161B26"/>
                </a:solidFill>
                <a:latin typeface="Arial"/>
              </a:rPr>
              <a:t>•  Pareto analysis — The 80/20 rule separates the vital few causes from the trivial many.</a:t>
            </a:r>
          </a:p>
          <a:p>
            <a:pPr>
              <a:spcAft>
                <a:spcPts val="1000"/>
              </a:spcAft>
            </a:pPr>
            <a:r>
              <a:rPr sz="1500">
                <a:solidFill>
                  <a:srgbClr val="161B26"/>
                </a:solidFill>
                <a:latin typeface="Arial"/>
              </a:rPr>
              <a:t>•  Run charts — Plot the metric over time to reveal trend, shift, cluster and oscillation.</a:t>
            </a:r>
          </a:p>
          <a:p>
            <a:pPr>
              <a:spcAft>
                <a:spcPts val="1000"/>
              </a:spcAft>
            </a:pPr>
            <a:r>
              <a:rPr sz="1500">
                <a:solidFill>
                  <a:srgbClr val="161B26"/>
                </a:solidFill>
                <a:latin typeface="Arial"/>
              </a:rPr>
              <a:t>•  5 Whys — Ask why repeatedly to drill from the symptom down to an actionable cause.</a:t>
            </a:r>
          </a:p>
          <a:p>
            <a:pPr>
              <a:spcAft>
                <a:spcPts val="1000"/>
              </a:spcAft>
            </a:pPr>
            <a:r>
              <a:rPr sz="1500">
                <a:solidFill>
                  <a:srgbClr val="161B26"/>
                </a:solidFill>
                <a:latin typeface="Arial"/>
              </a:rPr>
              <a:t>•  Fishbone diagram — Organise candidate causes by category — Manpower, Method, Machine, Material, Measurement.</a:t>
            </a:r>
          </a:p>
          <a:p>
            <a:pPr>
              <a:spcAft>
                <a:spcPts val="1000"/>
              </a:spcAft>
            </a:pPr>
            <a:r>
              <a:rPr sz="1500">
                <a:solidFill>
                  <a:srgbClr val="161B26"/>
                </a:solidFill>
                <a:latin typeface="Arial"/>
              </a:rPr>
              <a:t>•  Evidence testing — A cause is only a root cause when the data you collected supports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widely against the proven root cause before evaluating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Solution selection</a:t>
            </a:r>
          </a:p>
          <a:p>
            <a:pPr algn="l">
              <a:spcAft>
                <a:spcPts val="300"/>
              </a:spcAft>
            </a:pPr>
            <a:r>
              <a:rPr sz="1100" b="0">
                <a:solidFill>
                  <a:srgbClr val="5B6372"/>
                </a:solidFill>
                <a:latin typeface="Arial"/>
              </a:rPr>
              <a:t>Score candidate solutions against weighted criteria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for physical and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Poka-Yoke</a:t>
            </a:r>
          </a:p>
          <a:p>
            <a:pPr algn="l">
              <a:spcAft>
                <a:spcPts val="300"/>
              </a:spcAft>
            </a:pPr>
            <a:r>
              <a:rPr sz="1100" b="0">
                <a:solidFill>
                  <a:srgbClr val="5B6372"/>
                </a:solidFill>
                <a:latin typeface="Arial"/>
              </a:rPr>
              <a:t>Mistake proofing makes the error difficult or impossible to make in the first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Document the improved method so anyone can repeat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Test the change at small scale to expose issues before full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CHOOSING OBJECTIVELY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Solution Selection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criteria</a:t>
            </a:r>
          </a:p>
          <a:p>
            <a:pPr algn="l">
              <a:spcAft>
                <a:spcPts val="300"/>
              </a:spcAft>
            </a:pPr>
            <a:r>
              <a:rPr sz="1200" b="0">
                <a:solidFill>
                  <a:srgbClr val="5B6372"/>
                </a:solidFill>
                <a:latin typeface="Arial"/>
              </a:rPr>
              <a:t>Effectiveness, cost, time to implement, risk, ease of adoption.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Weight each criterion</a:t>
            </a:r>
          </a:p>
          <a:p>
            <a:pPr algn="l">
              <a:spcAft>
                <a:spcPts val="300"/>
              </a:spcAft>
            </a:pPr>
            <a:r>
              <a:rPr sz="1200" b="0">
                <a:solidFill>
                  <a:srgbClr val="5B6372"/>
                </a:solidFill>
                <a:latin typeface="Arial"/>
              </a:rPr>
              <a:t>Not all criteria matter equally — agree the weights first.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Score each solution</a:t>
            </a:r>
          </a:p>
          <a:p>
            <a:pPr algn="l">
              <a:spcAft>
                <a:spcPts val="300"/>
              </a:spcAft>
            </a:pPr>
            <a:r>
              <a:rPr sz="1200" b="0">
                <a:solidFill>
                  <a:srgbClr val="5B6372"/>
                </a:solidFill>
                <a:latin typeface="Arial"/>
              </a:rPr>
              <a:t>Score every candidate against each criterion on a consistent scale.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Rank by weighted total</a:t>
            </a:r>
          </a:p>
          <a:p>
            <a:pPr algn="l">
              <a:spcAft>
                <a:spcPts val="300"/>
              </a:spcAft>
            </a:pPr>
            <a:r>
              <a:rPr sz="1200" b="0">
                <a:solidFill>
                  <a:srgbClr val="5B6372"/>
                </a:solidFill>
                <a:latin typeface="Arial"/>
              </a:rPr>
              <a:t>Multiply score by weight, sum, and rank — the decision becomes defensible.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 IN A SERVICE TEAM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Applied to Digital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Sort</a:t>
            </a:r>
          </a:p>
          <a:p>
            <a:pPr algn="l">
              <a:spcAft>
                <a:spcPts val="300"/>
              </a:spcAft>
            </a:pPr>
            <a:r>
              <a:rPr sz="1100" b="0">
                <a:solidFill>
                  <a:srgbClr val="5B6372"/>
                </a:solidFill>
                <a:latin typeface="Arial"/>
              </a:rPr>
              <a:t>Archive the ticket queues, folders and dashboards nobody uses.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 in order</a:t>
            </a:r>
          </a:p>
          <a:p>
            <a:pPr algn="l">
              <a:spcAft>
                <a:spcPts val="300"/>
              </a:spcAft>
            </a:pPr>
            <a:r>
              <a:rPr sz="1100" b="0">
                <a:solidFill>
                  <a:srgbClr val="5B6372"/>
                </a:solidFill>
                <a:latin typeface="Arial"/>
              </a:rPr>
              <a:t>One agreed place for templates, runbooks and knowledge articles.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Shine</a:t>
            </a:r>
          </a:p>
          <a:p>
            <a:pPr algn="l">
              <a:spcAft>
                <a:spcPts val="300"/>
              </a:spcAft>
            </a:pPr>
            <a:r>
              <a:rPr sz="1100" b="0">
                <a:solidFill>
                  <a:srgbClr val="5B6372"/>
                </a:solidFill>
                <a:latin typeface="Arial"/>
              </a:rPr>
              <a:t>Regularly review and retire out-of-date knowledge base entries.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Agreed naming conventions and ticket templates for everyone.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Sustain</a:t>
            </a:r>
          </a:p>
          <a:p>
            <a:pPr algn="l">
              <a:spcAft>
                <a:spcPts val="300"/>
              </a:spcAft>
            </a:pPr>
            <a:r>
              <a:rPr sz="1100" b="0">
                <a:solidFill>
                  <a:srgbClr val="5B6372"/>
                </a:solidFill>
                <a:latin typeface="Arial"/>
              </a:rPr>
              <a:t>A short monthly review to check the standard is still being followed.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works</a:t>
            </a:r>
          </a:p>
          <a:p>
            <a:pPr algn="l">
              <a:spcAft>
                <a:spcPts val="300"/>
              </a:spcAft>
            </a:pPr>
            <a:r>
              <a:rPr sz="1100" b="0">
                <a:solidFill>
                  <a:srgbClr val="5B6372"/>
                </a:solidFill>
                <a:latin typeface="Arial"/>
              </a:rPr>
              <a:t>Less searching, fewer mistakes, faster onboarding for new agents.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POKA-YOKE LEVELS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Mistake Proofing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happen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form — design it out.</a:t>
            </a:r>
          </a:p>
          <a:p>
            <a:pPr>
              <a:spcAft>
                <a:spcPts val="700"/>
              </a:spcAft>
            </a:pPr>
            <a:r>
              <a:rPr sz="1200">
                <a:solidFill>
                  <a:srgbClr val="161B26"/>
                </a:solidFill>
                <a:latin typeface="Arial"/>
              </a:rPr>
              <a:t>•  A required field blocks submission.</a:t>
            </a:r>
          </a:p>
          <a:p>
            <a:pPr>
              <a:spcAft>
                <a:spcPts val="700"/>
              </a:spcAft>
            </a:pPr>
            <a:r>
              <a:rPr sz="1200">
                <a:solidFill>
                  <a:srgbClr val="161B26"/>
                </a:solidFill>
                <a:latin typeface="Arial"/>
              </a:rPr>
              <a:t>•  A connector only fits one way.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caught immediately</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but is flagged at once.</a:t>
            </a:r>
          </a:p>
          <a:p>
            <a:pPr>
              <a:spcAft>
                <a:spcPts val="700"/>
              </a:spcAft>
            </a:pPr>
            <a:r>
              <a:rPr sz="1200">
                <a:solidFill>
                  <a:srgbClr val="161B26"/>
                </a:solidFill>
                <a:latin typeface="Arial"/>
              </a:rPr>
              <a:t>•  Validation warns on an invalid category.</a:t>
            </a:r>
          </a:p>
          <a:p>
            <a:pPr>
              <a:spcAft>
                <a:spcPts val="700"/>
              </a:spcAft>
            </a:pPr>
            <a:r>
              <a:rPr sz="1200">
                <a:solidFill>
                  <a:srgbClr val="161B26"/>
                </a:solidFill>
                <a:latin typeface="Arial"/>
              </a:rPr>
              <a:t>•  Weaker, but often easier to add.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Mitigation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impact is reduced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and is not caught.</a:t>
            </a:r>
          </a:p>
          <a:p>
            <a:pPr>
              <a:spcAft>
                <a:spcPts val="700"/>
              </a:spcAft>
            </a:pPr>
            <a:r>
              <a:rPr sz="1200">
                <a:solidFill>
                  <a:srgbClr val="161B26"/>
                </a:solidFill>
                <a:latin typeface="Arial"/>
              </a:rPr>
              <a:t>•  But its consequence is limited.</a:t>
            </a:r>
          </a:p>
          <a:p>
            <a:pPr>
              <a:spcAft>
                <a:spcPts val="700"/>
              </a:spcAft>
            </a:pPr>
            <a:r>
              <a:rPr sz="1200">
                <a:solidFill>
                  <a:srgbClr val="161B26"/>
                </a:solidFill>
                <a:latin typeface="Arial"/>
              </a:rPr>
              <a:t>•  Weakest — use only when the others cannot apply.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Kaizen — Continuous Small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principle</a:t>
            </a:r>
          </a:p>
          <a:p>
            <a:pPr algn="l">
              <a:spcAft>
                <a:spcPts val="300"/>
              </a:spcAft>
            </a:pPr>
            <a:r>
              <a:rPr sz="1200" b="0">
                <a:solidFill>
                  <a:srgbClr val="5B6372"/>
                </a:solidFill>
                <a:latin typeface="Arial"/>
              </a:rPr>
              <a:t>Many small improvements beat waiting for one perfect large one.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does it</a:t>
            </a:r>
          </a:p>
          <a:p>
            <a:pPr algn="l">
              <a:spcAft>
                <a:spcPts val="300"/>
              </a:spcAft>
            </a:pPr>
            <a:r>
              <a:rPr sz="1200" b="0">
                <a:solidFill>
                  <a:srgbClr val="5B6372"/>
                </a:solidFill>
                <a:latin typeface="Arial"/>
              </a:rPr>
              <a:t>Everyone — Kaizen is explicitly not reserved for specialists.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Kaizen event</a:t>
            </a:r>
          </a:p>
          <a:p>
            <a:pPr algn="l">
              <a:spcAft>
                <a:spcPts val="300"/>
              </a:spcAft>
            </a:pPr>
            <a:r>
              <a:rPr sz="1200" b="0">
                <a:solidFill>
                  <a:srgbClr val="5B6372"/>
                </a:solidFill>
                <a:latin typeface="Arial"/>
              </a:rPr>
              <a:t>A focused 3-5 day workshop to fix one process end to end.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fit</a:t>
            </a:r>
          </a:p>
          <a:p>
            <a:pPr algn="l">
              <a:spcAft>
                <a:spcPts val="300"/>
              </a:spcAft>
            </a:pPr>
            <a:r>
              <a:rPr sz="1200" b="0">
                <a:solidFill>
                  <a:srgbClr val="5B6372"/>
                </a:solidFill>
                <a:latin typeface="Arial"/>
              </a:rPr>
              <a:t>This is exactly the scale of improvement a Yellow Belt leads.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team, one shift or one ticket category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9 — Countermeasures, 5S, Mistake Proofing, Standar</a:t>
            </a:r>
          </a:p>
          <a:p>
            <a:pPr algn="l">
              <a:spcAft>
                <a:spcPts val="300"/>
              </a:spcAft>
            </a:pPr>
            <a:r>
              <a:rPr sz="1100" b="0">
                <a:solidFill>
                  <a:srgbClr val="5B6372"/>
                </a:solidFill>
                <a:latin typeface="Arial"/>
              </a:rPr>
              <a:t>A prioritised countermeasure set with a 5S plan, a poka-yoke design an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13 (elective) — Solution Selection Matrix, Benchmarking,</a:t>
            </a:r>
          </a:p>
          <a:p>
            <a:pPr algn="l">
              <a:spcAft>
                <a:spcPts val="300"/>
              </a:spcAft>
            </a:pPr>
            <a:r>
              <a:rPr sz="1100" b="0">
                <a:solidFill>
                  <a:srgbClr val="5B6372"/>
                </a:solidFill>
                <a:latin typeface="Arial"/>
              </a:rPr>
              <a:t>A scored solution selection matrix, a benchmarking summary and an FMEA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5S, poka-yoke, visual management, standard work, Kaizen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Generate countermeasures for each proven root cause — quantity before quality.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Prioritise using an impact vs effort matrix to find the quick wins.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Apply 5S thinking — Sort, Set in order, Shine, Standardise, Sustain — including to digital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one poka-yoke that makes the error difficult or impossible to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Draft standard work so the improved method is repeatable by anyone.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a Kaizen event or pilot to test the countermeasure at small scale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containment countermeasure from a permanent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Solution selection matrix, benchmarking, FMEA, RPN scoring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Agree the selection criteria and weight each by importance.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Score every candidate solution against the weighted criteria and rank the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Benchmark your process against an internal or external reference and note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an FMEA: failure mode, effect, cause, then score Severity, Occurrence and Detection.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RPN = S x O x D and address the highest-RPN failure modes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widely against the proven root cause before evaluating anything.</a:t>
            </a:r>
          </a:p>
          <a:p>
            <a:pPr>
              <a:spcAft>
                <a:spcPts val="1000"/>
              </a:spcAft>
            </a:pPr>
            <a:r>
              <a:rPr sz="1500">
                <a:solidFill>
                  <a:srgbClr val="161B26"/>
                </a:solidFill>
                <a:latin typeface="Arial"/>
              </a:rPr>
              <a:t>•  Solution selection — Score candidate solutions against weighted criteria before committing.</a:t>
            </a:r>
          </a:p>
          <a:p>
            <a:pPr>
              <a:spcAft>
                <a:spcPts val="1000"/>
              </a:spcAft>
            </a:pPr>
            <a:r>
              <a:rPr sz="1500">
                <a:solidFill>
                  <a:srgbClr val="161B26"/>
                </a:solidFill>
                <a:latin typeface="Arial"/>
              </a:rPr>
              <a:t>•  5S — Sort, Set in order, Shine, Standardise, Sustain — for physical and digital work.</a:t>
            </a:r>
          </a:p>
          <a:p>
            <a:pPr>
              <a:spcAft>
                <a:spcPts val="1000"/>
              </a:spcAft>
            </a:pPr>
            <a:r>
              <a:rPr sz="1500">
                <a:solidFill>
                  <a:srgbClr val="161B26"/>
                </a:solidFill>
                <a:latin typeface="Arial"/>
              </a:rPr>
              <a:t>•  Poka-Yoke — Mistake proofing makes the error difficult or impossible to make in the first place.</a:t>
            </a:r>
          </a:p>
          <a:p>
            <a:pPr>
              <a:spcAft>
                <a:spcPts val="1000"/>
              </a:spcAft>
            </a:pPr>
            <a:r>
              <a:rPr sz="1500">
                <a:solidFill>
                  <a:srgbClr val="161B26"/>
                </a:solidFill>
                <a:latin typeface="Arial"/>
              </a:rPr>
              <a:t>•  Standard work — Document the improved method so anyone can repeat it the same way.</a:t>
            </a:r>
          </a:p>
          <a:p>
            <a:pPr>
              <a:spcAft>
                <a:spcPts val="1000"/>
              </a:spcAft>
            </a:pPr>
            <a:r>
              <a:rPr sz="1500">
                <a:solidFill>
                  <a:srgbClr val="161B26"/>
                </a:solidFill>
                <a:latin typeface="Arial"/>
              </a:rPr>
              <a:t>•  Piloting — Test the change at small scale to expose issues before full rollout.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Metric, target, monitoring method, frequency, owner and reaction plan.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control</a:t>
            </a:r>
          </a:p>
          <a:p>
            <a:pPr algn="l">
              <a:spcAft>
                <a:spcPts val="300"/>
              </a:spcAft>
            </a:pPr>
            <a:r>
              <a:rPr sz="1100" b="0">
                <a:solidFill>
                  <a:srgbClr val="5B6372"/>
                </a:solidFill>
                <a:latin typeface="Arial"/>
              </a:rPr>
              <a:t>A process is in control when it varies consistently within expected limits.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Boards and dashboards keep the improved performance visible to everyone.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that surface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A3 and handover</a:t>
            </a:r>
          </a:p>
          <a:p>
            <a:pPr algn="l">
              <a:spcAft>
                <a:spcPts val="300"/>
              </a:spcAft>
            </a:pPr>
            <a:r>
              <a:rPr sz="1100" b="0">
                <a:solidFill>
                  <a:srgbClr val="5B6372"/>
                </a:solidFill>
                <a:latin typeface="Arial"/>
              </a:rPr>
              <a:t>One-page storytelling to summarise, hand over and sustain the improvement.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control plan without a named owner is a wish.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row needs a person accountable and a specific action to take when the number goes wrong — otherwise nothing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CONTROL · PROCESS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is 'in control' when it varies consistently within expected limits over time — predictable, even if not yet perfect.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A CRITICAL DISTINCTION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Set by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Set by the process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Specification limits (LSL / USL)</a:t>
            </a:r>
          </a:p>
          <a:p>
            <a:pPr>
              <a:spcAft>
                <a:spcPts val="1000"/>
              </a:spcAft>
            </a:pPr>
            <a:r>
              <a:rPr sz="1300">
                <a:solidFill>
                  <a:srgbClr val="5B6372"/>
                </a:solidFill>
                <a:latin typeface="Arial"/>
              </a:rPr>
              <a:t>–  Given by the CUSTOMER</a:t>
            </a:r>
          </a:p>
          <a:p>
            <a:pPr>
              <a:spcAft>
                <a:spcPts val="1000"/>
              </a:spcAft>
            </a:pPr>
            <a:r>
              <a:rPr sz="1300">
                <a:solidFill>
                  <a:srgbClr val="5B6372"/>
                </a:solidFill>
                <a:latin typeface="Arial"/>
              </a:rPr>
              <a:t>–  Define what counts as a defect</a:t>
            </a:r>
          </a:p>
          <a:p>
            <a:pPr>
              <a:spcAft>
                <a:spcPts val="1000"/>
              </a:spcAft>
            </a:pPr>
            <a:r>
              <a:rPr sz="1300">
                <a:solidFill>
                  <a:srgbClr val="5B6372"/>
                </a:solidFill>
                <a:latin typeface="Arial"/>
              </a:rPr>
              <a:t>–  Do not change when the process changes</a:t>
            </a:r>
          </a:p>
          <a:p>
            <a:pPr>
              <a:spcAft>
                <a:spcPts val="1000"/>
              </a:spcAft>
            </a:pPr>
            <a:r>
              <a:rPr sz="1300">
                <a:solidFill>
                  <a:srgbClr val="5B6372"/>
                </a:solidFill>
                <a:latin typeface="Arial"/>
              </a:rPr>
              <a:t>–  Outside them = a defect</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Control limits (LCL / UCL)</a:t>
            </a:r>
          </a:p>
          <a:p>
            <a:pPr>
              <a:spcAft>
                <a:spcPts val="1000"/>
              </a:spcAft>
            </a:pPr>
            <a:r>
              <a:rPr sz="1300">
                <a:solidFill>
                  <a:srgbClr val="5B6372"/>
                </a:solidFill>
                <a:latin typeface="Arial"/>
              </a:rPr>
              <a:t>–  Calculated from the PROCESS itself</a:t>
            </a:r>
          </a:p>
          <a:p>
            <a:pPr>
              <a:spcAft>
                <a:spcPts val="1000"/>
              </a:spcAft>
            </a:pPr>
            <a:r>
              <a:rPr sz="1300">
                <a:solidFill>
                  <a:srgbClr val="5B6372"/>
                </a:solidFill>
                <a:latin typeface="Arial"/>
              </a:rPr>
              <a:t>–  Typically the mean ± 3 standard deviations</a:t>
            </a:r>
          </a:p>
          <a:p>
            <a:pPr>
              <a:spcAft>
                <a:spcPts val="1000"/>
              </a:spcAft>
            </a:pPr>
            <a:r>
              <a:rPr sz="1300">
                <a:solidFill>
                  <a:srgbClr val="5B6372"/>
                </a:solidFill>
                <a:latin typeface="Arial"/>
              </a:rPr>
              <a:t>–  Change when the process changes</a:t>
            </a:r>
          </a:p>
          <a:p>
            <a:pPr>
              <a:spcAft>
                <a:spcPts val="1000"/>
              </a:spcAft>
            </a:pPr>
            <a:r>
              <a:rPr sz="1300">
                <a:solidFill>
                  <a:srgbClr val="5B6372"/>
                </a:solidFill>
                <a:latin typeface="Arial"/>
              </a:rPr>
              <a:t>–  Outside them = a special cause to investigate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CONTROL · SPC AWARENESS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Statistical Process Control (SPC)</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Monitoring a process over time so problems are predicted, not discovered late.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Plot the metric against control limits and watch for non-random patterns.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saves money</a:t>
            </a:r>
          </a:p>
          <a:p>
            <a:pPr algn="l">
              <a:spcAft>
                <a:spcPts val="300"/>
              </a:spcAft>
            </a:pPr>
            <a:r>
              <a:rPr sz="1200" b="0">
                <a:solidFill>
                  <a:srgbClr val="5B6372"/>
                </a:solidFill>
                <a:latin typeface="Arial"/>
              </a:rPr>
              <a:t>Preventing defects always costs less than inspecting and reworking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level</a:t>
            </a:r>
          </a:p>
          <a:p>
            <a:pPr algn="l">
              <a:spcAft>
                <a:spcPts val="300"/>
              </a:spcAft>
            </a:pPr>
            <a:r>
              <a:rPr sz="1200" b="0">
                <a:solidFill>
                  <a:srgbClr val="5B6372"/>
                </a:solidFill>
                <a:latin typeface="Arial"/>
              </a:rPr>
              <a:t>You are expected to read and interpret a control chart, not to construct 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 · GO GEMBA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 to the Gemba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Gemba means 'the real place'</a:t>
            </a:r>
          </a:p>
          <a:p>
            <a:pPr algn="l">
              <a:spcAft>
                <a:spcPts val="300"/>
              </a:spcAft>
            </a:pPr>
            <a:r>
              <a:rPr sz="1200" b="0">
                <a:solidFill>
                  <a:srgbClr val="5B6372"/>
                </a:solidFill>
                <a:latin typeface="Arial"/>
              </a:rPr>
              <a:t>Where the work actually happens — not the meeting room.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Go and see</a:t>
            </a:r>
          </a:p>
          <a:p>
            <a:pPr algn="l">
              <a:spcAft>
                <a:spcPts val="300"/>
              </a:spcAft>
            </a:pPr>
            <a:r>
              <a:rPr sz="1200" b="0">
                <a:solidFill>
                  <a:srgbClr val="5B6372"/>
                </a:solidFill>
                <a:latin typeface="Arial"/>
              </a:rPr>
              <a:t>Observe the process directly rather than relying on reports about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do not blame</a:t>
            </a:r>
          </a:p>
          <a:p>
            <a:pPr algn="l">
              <a:spcAft>
                <a:spcPts val="300"/>
              </a:spcAft>
            </a:pPr>
            <a:r>
              <a:rPr sz="1200" b="0">
                <a:solidFill>
                  <a:srgbClr val="5B6372"/>
                </a:solidFill>
                <a:latin typeface="Arial"/>
              </a:rPr>
              <a:t>The purpose is to understand the process, never to audit the person.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Reports show what was recorded; Gemba shows what actually happens.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A3 REPORT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A3 — One Page That Tells the Whole Story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Background</a:t>
            </a:r>
          </a:p>
          <a:p>
            <a:pPr algn="l">
              <a:spcAft>
                <a:spcPts val="300"/>
              </a:spcAft>
            </a:pPr>
            <a:r>
              <a:rPr sz="1100" b="0">
                <a:solidFill>
                  <a:srgbClr val="5B6372"/>
                </a:solidFill>
                <a:latin typeface="Arial"/>
              </a:rPr>
              <a:t>Why this problem was worth working 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Current state</a:t>
            </a:r>
          </a:p>
          <a:p>
            <a:pPr algn="l">
              <a:spcAft>
                <a:spcPts val="300"/>
              </a:spcAft>
            </a:pPr>
            <a:r>
              <a:rPr sz="1100" b="0">
                <a:solidFill>
                  <a:srgbClr val="5B6372"/>
                </a:solidFill>
                <a:latin typeface="Arial"/>
              </a:rPr>
              <a:t>The baseline, with the data and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The target condition, stated as a measurable number.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 analysis</a:t>
            </a:r>
          </a:p>
          <a:p>
            <a:pPr algn="l">
              <a:spcAft>
                <a:spcPts val="300"/>
              </a:spcAft>
            </a:pPr>
            <a:r>
              <a:rPr sz="1100" b="0">
                <a:solidFill>
                  <a:srgbClr val="5B6372"/>
                </a:solidFill>
                <a:latin typeface="Arial"/>
              </a:rPr>
              <a:t>What the 5 Whys and Fishbone actually 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Countermeasures</a:t>
            </a:r>
          </a:p>
          <a:p>
            <a:pPr algn="l">
              <a:spcAft>
                <a:spcPts val="300"/>
              </a:spcAft>
            </a:pPr>
            <a:r>
              <a:rPr sz="1100" b="0">
                <a:solidFill>
                  <a:srgbClr val="5B6372"/>
                </a:solidFill>
                <a:latin typeface="Arial"/>
              </a:rPr>
              <a:t>What was changed, and why that addresses the proven cause.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Results &amp; follow-up</a:t>
            </a:r>
          </a:p>
          <a:p>
            <a:pPr algn="l">
              <a:spcAft>
                <a:spcPts val="300"/>
              </a:spcAft>
            </a:pPr>
            <a:r>
              <a:rPr sz="1100" b="0">
                <a:solidFill>
                  <a:srgbClr val="5B6372"/>
                </a:solidFill>
                <a:latin typeface="Arial"/>
              </a:rPr>
              <a:t>Whether the metric moved, and who now owns the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10 — Control Plan, A3 Summary, Handover, and Certif</a:t>
            </a:r>
          </a:p>
          <a:p>
            <a:pPr algn="l">
              <a:spcAft>
                <a:spcPts val="300"/>
              </a:spcAft>
            </a:pPr>
            <a:r>
              <a:rPr sz="1100" b="0">
                <a:solidFill>
                  <a:srgbClr val="5B6372"/>
                </a:solidFill>
                <a:latin typeface="Arial"/>
              </a:rPr>
              <a:t>A control plan, an A3 one-page summary, a handover checklist and a rea</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14 (elective) — Descriptive Statistics and Implementatio</a:t>
            </a:r>
          </a:p>
          <a:p>
            <a:pPr algn="l">
              <a:spcAft>
                <a:spcPts val="300"/>
              </a:spcAft>
            </a:pPr>
            <a:r>
              <a:rPr sz="1100" b="0">
                <a:solidFill>
                  <a:srgbClr val="5B6372"/>
                </a:solidFill>
                <a:latin typeface="Arial"/>
              </a:rPr>
              <a:t>A descriptive statistics summary and a dated implementation plan.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SPC thinking, visual management, A3 report, handover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Create the control plan: metric, target, monitoring method, frequency, owner, reaction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visual management approach — board, dashboard or huddle — that keeps it visible.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Specify the reaction plan: exactly what happens when a metric falls outside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A3 summary: background, current state, goal, analysis, countermeasures, results, follow-up.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the handover checklist so the process owner can sustain it without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your personal certification readiness plan — which topics need most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Mean, median, range, standard deviation,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mean and median for your assignment-time data and compare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range and standard deviation to describe the spread.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Explain what the mean-versus-median difference reveals about outliers and skew.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implementation plan: action, owner, date, barriers and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Control plan — Metric, target, monitoring method, frequency, owner and reaction plan.</a:t>
            </a:r>
          </a:p>
          <a:p>
            <a:pPr>
              <a:spcAft>
                <a:spcPts val="1000"/>
              </a:spcAft>
            </a:pPr>
            <a:r>
              <a:rPr sz="1500">
                <a:solidFill>
                  <a:srgbClr val="161B26"/>
                </a:solidFill>
                <a:latin typeface="Arial"/>
              </a:rPr>
              <a:t>•  Process control — A process is in control when it varies consistently within expected limits.</a:t>
            </a:r>
          </a:p>
          <a:p>
            <a:pPr>
              <a:spcAft>
                <a:spcPts val="1000"/>
              </a:spcAft>
            </a:pPr>
            <a:r>
              <a:rPr sz="1500">
                <a:solidFill>
                  <a:srgbClr val="161B26"/>
                </a:solidFill>
                <a:latin typeface="Arial"/>
              </a:rPr>
              <a:t>•  Visual management — Boards and dashboards keep the improved performance visible to everyone.</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that surface problems while they are still small.</a:t>
            </a:r>
          </a:p>
          <a:p>
            <a:pPr>
              <a:spcAft>
                <a:spcPts val="1000"/>
              </a:spcAft>
            </a:pPr>
            <a:r>
              <a:rPr sz="1500">
                <a:solidFill>
                  <a:srgbClr val="161B26"/>
                </a:solidFill>
                <a:latin typeface="Arial"/>
              </a:rPr>
              <a:t>•  A3 and handover — One-page storytelling to summarise, hand over and sustain the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charter</a:t>
            </a:r>
          </a:p>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 the 8 wastes</a:t>
            </a:r>
          </a:p>
          <a:p>
            <a:pPr>
              <a:spcAft>
                <a:spcPts val="600"/>
              </a:spcAft>
            </a:pPr>
            <a:r>
              <a:rPr sz="1100">
                <a:solidFill>
                  <a:srgbClr val="161B26"/>
                </a:solidFill>
                <a:latin typeface="Arial"/>
              </a:rPr>
              <a:t>•  Built the data plan</a:t>
            </a:r>
          </a:p>
          <a:p>
            <a:pPr>
              <a:spcAft>
                <a:spcPts val="600"/>
              </a:spcAft>
            </a:pPr>
            <a:r>
              <a:rPr sz="1100">
                <a:solidFill>
                  <a:srgbClr val="161B26"/>
                </a:solidFill>
                <a:latin typeface="Arial"/>
              </a:rPr>
              <a:t>•  Collected the baseline</a:t>
            </a:r>
          </a:p>
          <a:p>
            <a:pPr>
              <a:spcAft>
                <a:spcPts val="600"/>
              </a:spcAft>
            </a:pPr>
            <a:r>
              <a:rPr sz="1100">
                <a:solidFill>
                  <a:srgbClr val="161B26"/>
                </a:solidFill>
                <a:latin typeface="Arial"/>
              </a:rPr>
              <a:t>•  Calculated DPMO</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Pareto</a:t>
            </a:r>
          </a:p>
          <a:p>
            <a:pPr>
              <a:spcAft>
                <a:spcPts val="600"/>
              </a:spcAft>
            </a:pPr>
            <a:r>
              <a:rPr sz="1100">
                <a:solidFill>
                  <a:srgbClr val="161B26"/>
                </a:solidFill>
                <a:latin typeface="Arial"/>
              </a:rPr>
              <a:t>•  Read the run chart</a:t>
            </a:r>
          </a:p>
          <a:p>
            <a:pPr>
              <a:spcAft>
                <a:spcPts val="600"/>
              </a:spcAft>
            </a:pPr>
            <a:r>
              <a:rPr sz="1100">
                <a:solidFill>
                  <a:srgbClr val="161B26"/>
                </a:solidFill>
                <a:latin typeface="Arial"/>
              </a:rPr>
              <a:t>•  Ran 5 Whys and Fishbone</a:t>
            </a:r>
          </a:p>
          <a:p>
            <a:pPr>
              <a:spcAft>
                <a:spcPts val="600"/>
              </a:spcAft>
            </a:pPr>
            <a:r>
              <a:rPr sz="1100">
                <a:solidFill>
                  <a:srgbClr val="161B26"/>
                </a:solidFill>
                <a:latin typeface="Arial"/>
              </a:rPr>
              <a:t>•  Proved the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Selected solutions</a:t>
            </a:r>
          </a:p>
          <a:p>
            <a:pPr>
              <a:spcAft>
                <a:spcPts val="600"/>
              </a:spcAft>
            </a:pPr>
            <a:r>
              <a:rPr sz="1100">
                <a:solidFill>
                  <a:srgbClr val="161B26"/>
                </a:solidFill>
                <a:latin typeface="Arial"/>
              </a:rPr>
              <a:t>•  Applied 5S and poka-yoke</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Piloted the change</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A3</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Role and scenario</a:t>
            </a:r>
          </a:p>
          <a:p>
            <a:pPr algn="l">
              <a:spcAft>
                <a:spcPts val="300"/>
              </a:spcAft>
            </a:pPr>
            <a:r>
              <a:rPr sz="1000" b="0">
                <a:solidFill>
                  <a:srgbClr val="5B6372"/>
                </a:solidFill>
                <a:latin typeface="Arial"/>
              </a:rPr>
              <a:t>Yellow Belt responsibility table and a selected improvement scenario.</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CTQ and waste</a:t>
            </a:r>
          </a:p>
          <a:p>
            <a:pPr algn="l">
              <a:spcAft>
                <a:spcPts val="300"/>
              </a:spcAft>
            </a:pPr>
            <a:r>
              <a:rPr sz="1000" b="0">
                <a:solidFill>
                  <a:srgbClr val="5B6372"/>
                </a:solidFill>
                <a:latin typeface="Arial"/>
              </a:rPr>
              <a:t>Customer requirements translated to CTQs, plus a waste walk log.</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Macro and detailed maps with pain points and handoffs marked.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Charter and Define pack</a:t>
            </a:r>
          </a:p>
          <a:p>
            <a:pPr algn="l">
              <a:spcAft>
                <a:spcPts val="300"/>
              </a:spcAft>
            </a:pPr>
            <a:r>
              <a:rPr sz="1000" b="0">
                <a:solidFill>
                  <a:srgbClr val="5B6372"/>
                </a:solidFill>
                <a:latin typeface="Arial"/>
              </a:rPr>
              <a:t>PDCA charter, problem statement, scope and stakeholder map.</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Measurement and analysis</a:t>
            </a:r>
          </a:p>
          <a:p>
            <a:pPr algn="l">
              <a:spcAft>
                <a:spcPts val="300"/>
              </a:spcAft>
            </a:pPr>
            <a:r>
              <a:rPr sz="1000" b="0">
                <a:solidFill>
                  <a:srgbClr val="5B6372"/>
                </a:solidFill>
                <a:latin typeface="Arial"/>
              </a:rPr>
              <a:t>Data collection plan, check sheet, Pareto, run chart and metrics.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Root cause and countermeasures</a:t>
            </a:r>
          </a:p>
          <a:p>
            <a:pPr algn="l">
              <a:spcAft>
                <a:spcPts val="300"/>
              </a:spcAft>
            </a:pPr>
            <a:r>
              <a:rPr sz="1000" b="0">
                <a:solidFill>
                  <a:srgbClr val="5B6372"/>
                </a:solidFill>
                <a:latin typeface="Arial"/>
              </a:rPr>
              <a:t>5 Whys, Fishbone, evidence tests and prioritised countermeasures.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A3</a:t>
            </a:r>
          </a:p>
          <a:p>
            <a:pPr algn="l">
              <a:spcAft>
                <a:spcPts val="300"/>
              </a:spcAft>
            </a:pPr>
            <a:r>
              <a:rPr sz="1000" b="0">
                <a:solidFill>
                  <a:srgbClr val="5B6372"/>
                </a:solidFill>
                <a:latin typeface="Arial"/>
              </a:rPr>
              <a:t>Control plan, visual management approach, A3 summary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Certification readiness</a:t>
            </a:r>
          </a:p>
          <a:p>
            <a:pPr algn="l">
              <a:spcAft>
                <a:spcPts val="300"/>
              </a:spcAft>
            </a:pPr>
            <a:r>
              <a:rPr sz="1000" b="0">
                <a:solidFill>
                  <a:srgbClr val="5B6372"/>
                </a:solidFill>
                <a:latin typeface="Arial"/>
              </a:rPr>
              <a:t>Your personal review plan for the assessment.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Yellow Belt role and where it stops?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Lean, Six Sigma and Lean Six Sigma in your own words?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CTQ and a metric?</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service example of each?</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each DMAIC phase and what it delivers?</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calculate yield, DPU, DPO and DPMO from raw data?</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interpret a Pareto chart and a run chart?</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root cause with the evidence behind it?</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how the control plan sustains the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Run one small PDCA improvement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Green Belt</a:t>
            </a:r>
          </a:p>
          <a:p>
            <a:pPr algn="l">
              <a:spcAft>
                <a:spcPts val="300"/>
              </a:spcAft>
            </a:pPr>
            <a:r>
              <a:rPr sz="1200" b="0">
                <a:solidFill>
                  <a:srgbClr val="5B6372"/>
                </a:solidFill>
                <a:latin typeface="Arial"/>
              </a:rPr>
              <a:t>The next step — leads smaller DMAIC projects and handles the statistics.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projects.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Share improvements with colleagues; Kaizen spreads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60 minutes) followed by the Case Study (90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improve one process this month — that is what a Yellow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